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4" r:id="rId17"/>
    <p:sldId id="277" r:id="rId18"/>
    <p:sldId id="278" r:id="rId19"/>
    <p:sldId id="280" r:id="rId20"/>
    <p:sldId id="283" r:id="rId21"/>
    <p:sldId id="284" r:id="rId22"/>
    <p:sldId id="281" r:id="rId23"/>
    <p:sldId id="282" r:id="rId24"/>
    <p:sldId id="286" r:id="rId25"/>
    <p:sldId id="287" r:id="rId26"/>
    <p:sldId id="288" r:id="rId27"/>
    <p:sldId id="289" r:id="rId28"/>
    <p:sldId id="290" r:id="rId29"/>
    <p:sldId id="291" r:id="rId30"/>
    <p:sldId id="292" r:id="rId31"/>
    <p:sldId id="293" r:id="rId32"/>
    <p:sldId id="296" r:id="rId33"/>
    <p:sldId id="294" r:id="rId34"/>
    <p:sldId id="297" r:id="rId35"/>
    <p:sldId id="299" r:id="rId36"/>
    <p:sldId id="300" r:id="rId37"/>
    <p:sldId id="301" r:id="rId38"/>
    <p:sldId id="302" r:id="rId3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96169"/>
    <a:srgbClr val="D269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2810"/>
    <p:restoredTop sz="96271"/>
  </p:normalViewPr>
  <p:slideViewPr>
    <p:cSldViewPr snapToGrid="0" snapToObjects="1">
      <p:cViewPr>
        <p:scale>
          <a:sx n="96" d="100"/>
          <a:sy n="96" d="100"/>
        </p:scale>
        <p:origin x="176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08200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Команда из 5 человек. Кейс — «СтройМатериалы-Холдинг»: производство стройматериалов, проблемы сезонности и логистики «точно в срок». Метод моделирования — APQC PCF с адаптацией, нотация VAD.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Диагноз. Пять разрывов дают 1 370 млн ₽ потерь в год. Все они межфункциональные. 56 % потерь замыкаются на управление спросом — это и определит приоритет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Метод выбран не абстрактно, а по четырём критериям из кейса. Ключевой — видимость горизонтальных стыков, потому что именно там теряются деньги.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Модель показывает и последовательные связи, и связи влияния. Красным — три процесса, которые уходят в декомпозицию.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Приоритизация формальная: пять критериев с весами. О3 выигрывает с большим отрывом — 4,90 из 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Здесь закрывается требование задания: найти аналог проблемного процесса в APQC PCF и обосновать соответствие. Обоснование — через пять триггеров регламента.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Из восьми подпроцессов уровня 3 показаны три, где сосредоточена проблематика кейса. Уровень 5 в ветке 4.1 в APQC отсутствует.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Это таблица ровно по форме задания: уровень процесса, название подпроцесса, метрика с единицей измерения, формула расчёта. Значения «факт → цель» взяты из разделов 1 и 6 кейса.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2 — доставка. Ключевая операция 4.4.4.1, где ломается OTIF.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Единственная ветка, где APQC даёт пятый уровень — 3.5.4.2 «Ведение данных клиента». Поэтому уровень 5 задания закрывается здесь.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Метрики привязаны к уровням декомпозиции, а не к подразделениям — это и есть переход от функциональных KPI к процессным.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Оргструктура показана вместе с владельцами процессов ПВУ — это связывает Задание 3 с моделью VAD.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Дерево целей построено сверху вниз: миссия, видение 2027, четыре стратегические цели, двенадцать целей процессов с метриками.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1 440 млн ₽ эффекта в год, окупаемость 16 месяцев. Следующий шаг — модели «как есть» и «как должно быть» для подпроцесса 4.1.2.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Отчёт по семинару 2. Продолжение работы по кейсу «СтройМатериалы-Холдинг»: те же три приоритетных процесса, что и в ДЗ-1, но описанные методом SIPOC и дополненные матрицами RASCI.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SIPOC уровня A. Восемь основных процессов показаны как последовательность этапов одной цепочки создания ценности. Главный вход — заказ застройщика, главный выход — доставленная на объект партия, главный потребитель — внешний.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Три гипотезы целей. Формулировка от лица потребителя: не «планировать спрос», а «дать заводам план, который не нужно пересогласовывать».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1. Этапы колонки P взяты прямо из регламента ЛОГ-15/2024 (триггеры 1–3) и сопоставлены с шифрами APQC PCF 4.1. Все потребители, кроме поставщиков сырья, внутренние.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Главная находка: в матрице RACI регламента ЛОГ-15/2024 роль «А — Утверждающий» есть в легенде, но не проставлена ни в одной ячейке. То есть в самом кейсе ответственность за результат не назначена.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2. Сценарий кейса: партия готова в 16:30, логистика узнаёт об этом в 09:00 следующего дня, отгрузка сдвигается на 18:20, площадка простаивает с 16:00 до 19:30 и выставляет претензию на 280 тыс. 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RASCI приоритета 2. Роли — из оргструктуры и метрик уровня 3 кейса. Клиент как A на приёмке подчёркивает, что потребитель здесь внешний.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Приоритет 3 построен прямо по разделу 5 кейса: 14 этапов сгруппированы в 8 блоков с сохранением фактического времени. Сумма — 9,0 рабочих дней при цели 2,0.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Ключевой слайд задания: матрица RASCI построена буквально по описанию процесса в разделе 5 кейса, с сохранением фактического времени каждого этапа.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а. Обратная связь двух направлений: от потребителя к процессу и от процесса к поставщику. Главный тезис — сегодня все петли разорваны.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b. Качество измерено, ценность — нет. Потребитель главный внешний, но большинство процессов его не видят.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c. Не хватает требований и ответственности; лишними являются согласования и дублирующий ввод данных.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d. Требования к результату есть, требования к входам и стыкам отсутствуют полностью.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Вопрос e. Семь связей, шесть подтверждены кейсом. Отсутствующая обратная связь от О8 к О3 — самостоятельная находка.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Выводы. Главная мысль: SIPOC и RASCI хороши для диагностики стыков и ответственности, но слепы ко времени, а время — суть проблемы кейса.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Итог: четыре диаграммы, три матрицы, семь связей. Следующий шаг — нотация со временем и назначение владельца сквозного процесса.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sv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svg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95528" y="1247618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kern="0" spc="24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МОДЕЛИРОВАНИЕ ПРОЦЕССОВ ВЕРХНЕГО УРОВНЯ</a:t>
            </a:r>
            <a:endParaRPr lang="en-US" sz="1250" dirty="0"/>
          </a:p>
        </p:txBody>
      </p:sp>
      <p:sp>
        <p:nvSpPr>
          <p:cNvPr id="3" name="Text 1"/>
          <p:cNvSpPr txBox="1"/>
          <p:nvPr/>
        </p:nvSpPr>
        <p:spPr>
          <a:xfrm>
            <a:off x="768096" y="1719072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«СтройМатериалы-Холдинг»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795528" y="2780314"/>
            <a:ext cx="1554480" cy="32004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95528" y="2990626"/>
            <a:ext cx="5257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Проблемы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сезонности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6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логистики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95528" y="3328954"/>
            <a:ext cx="5400877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</a:t>
            </a:r>
            <a:r>
              <a:rPr lang="en-US" sz="16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талонная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модель APQC PCF с адаптацией · нотация VAD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68096" y="45948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68096" y="48691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Денисенко Денис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Коптюбенко Тимофей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Богданов Богдан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Лапин Юрий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Трюхан Борис</a:t>
            </a:r>
            <a:endParaRPr 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662FD99F-0057-0A1D-9DB8-32A3315EB2BD}"/>
              </a:ext>
            </a:extLst>
          </p:cNvPr>
          <p:cNvSpPr/>
          <p:nvPr/>
        </p:nvSpPr>
        <p:spPr>
          <a:xfrm>
            <a:off x="7452901" y="1687068"/>
            <a:ext cx="1554480" cy="32004"/>
          </a:xfrm>
          <a:prstGeom prst="rect">
            <a:avLst/>
          </a:prstGeom>
          <a:solidFill>
            <a:srgbClr val="D2691E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75488" y="603504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происходит в компании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1115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потери возникают на </a:t>
            </a:r>
            <a:r>
              <a:rPr lang="en-US" sz="115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стыках</a:t>
            </a: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подразделени</a:t>
            </a:r>
            <a:r>
              <a:rPr lang="ru-RU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й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1444752"/>
            <a:ext cx="11185855" cy="502920"/>
          </a:xfrm>
          <a:prstGeom prst="rect">
            <a:avLst/>
          </a:prstGeom>
          <a:solidFill>
            <a:srgbClr val="F1F0EC"/>
          </a:solidFill>
          <a:ln/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685800" y="1444752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Производитель стройматериалов для застройщиков (ПИК, ЛСР, ТПС). </a:t>
            </a:r>
            <a:r>
              <a:rPr lang="en-US" sz="10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завода · 860 чел. в производстве · 12 регионов сбыта · 85 ед. спецтехники · </a:t>
            </a:r>
            <a:r>
              <a:rPr lang="en-US" sz="105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</a:t>
            </a:r>
            <a:r>
              <a:rPr lang="en-US" sz="10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</a:t>
            </a:r>
            <a:r>
              <a:rPr lang="en-US" sz="105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r>
              <a:rPr lang="en-US" sz="10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«точно в срок»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02920" y="2121408"/>
            <a:ext cx="21201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502920" y="2194560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78,4 %</a:t>
            </a:r>
            <a:endParaRPr lang="en-US" sz="2200" dirty="0"/>
          </a:p>
        </p:txBody>
      </p:sp>
      <p:sp>
        <p:nvSpPr>
          <p:cNvPr id="10" name="Text 8"/>
          <p:cNvSpPr txBox="1"/>
          <p:nvPr/>
        </p:nvSpPr>
        <p:spPr>
          <a:xfrm>
            <a:off x="502920" y="2578608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Соблюдение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графиков отгрузки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502920" y="2926080"/>
            <a:ext cx="212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92 %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2769352" y="2121408"/>
            <a:ext cx="21201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2769352" y="2194560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 дней</a:t>
            </a:r>
            <a:endParaRPr lang="en-US" sz="2200" dirty="0"/>
          </a:p>
        </p:txBody>
      </p:sp>
      <p:sp>
        <p:nvSpPr>
          <p:cNvPr id="14" name="Text 12"/>
          <p:cNvSpPr txBox="1"/>
          <p:nvPr/>
        </p:nvSpPr>
        <p:spPr>
          <a:xfrm>
            <a:off x="2769352" y="2578608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графика отгрузки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2769352" y="2926080"/>
            <a:ext cx="212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2 дня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5035784" y="2121408"/>
            <a:ext cx="21201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5035784" y="2194560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±38 %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5035784" y="2578608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Отклонение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прогноза спроса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035784" y="2926080"/>
            <a:ext cx="212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цель: точность ≥ 85 %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302216" y="2121408"/>
            <a:ext cx="21201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7302216" y="2194560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3,8</a:t>
            </a:r>
            <a:endParaRPr lang="en-US" sz="2200" dirty="0"/>
          </a:p>
        </p:txBody>
      </p:sp>
      <p:sp>
        <p:nvSpPr>
          <p:cNvPr id="22" name="Text 20"/>
          <p:cNvSpPr txBox="1"/>
          <p:nvPr/>
        </p:nvSpPr>
        <p:spPr>
          <a:xfrm>
            <a:off x="7302216" y="2578608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Коэффициент сезонной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неравномерности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302216" y="2926080"/>
            <a:ext cx="212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2,2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9568647" y="2121408"/>
            <a:ext cx="2120128" cy="1024128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Text 23"/>
          <p:cNvSpPr txBox="1"/>
          <p:nvPr/>
        </p:nvSpPr>
        <p:spPr>
          <a:xfrm>
            <a:off x="9568647" y="2194560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2,5</a:t>
            </a:r>
            <a:endParaRPr lang="en-US" sz="2200" dirty="0"/>
          </a:p>
        </p:txBody>
      </p:sp>
      <p:sp>
        <p:nvSpPr>
          <p:cNvPr id="26" name="Text 24"/>
          <p:cNvSpPr txBox="1"/>
          <p:nvPr/>
        </p:nvSpPr>
        <p:spPr>
          <a:xfrm>
            <a:off x="9568647" y="2578608"/>
            <a:ext cx="2120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</a:t>
            </a:r>
            <a:endParaRPr lang="en-US" sz="95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9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процессной зрелости</a:t>
            </a:r>
            <a:endParaRPr lang="en-US" sz="950" dirty="0"/>
          </a:p>
        </p:txBody>
      </p:sp>
      <p:sp>
        <p:nvSpPr>
          <p:cNvPr id="27" name="Text 25"/>
          <p:cNvSpPr txBox="1"/>
          <p:nvPr/>
        </p:nvSpPr>
        <p:spPr>
          <a:xfrm>
            <a:off x="9568647" y="2926080"/>
            <a:ext cx="21201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3,0</a:t>
            </a:r>
            <a:endParaRPr lang="en-US" sz="850" dirty="0"/>
          </a:p>
        </p:txBody>
      </p:sp>
      <p:sp>
        <p:nvSpPr>
          <p:cNvPr id="28" name="Text 26"/>
          <p:cNvSpPr txBox="1"/>
          <p:nvPr/>
        </p:nvSpPr>
        <p:spPr>
          <a:xfrm>
            <a:off x="311972" y="3401568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Пять межфункциональных разрывов: 1 370 млн ₽/год</a:t>
            </a:r>
            <a:endParaRPr lang="en-US" sz="145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11326176"/>
              </p:ext>
            </p:extLst>
          </p:nvPr>
        </p:nvGraphicFramePr>
        <p:xfrm>
          <a:off x="311972" y="3749040"/>
          <a:ext cx="7140388" cy="2606040"/>
        </p:xfrm>
        <a:graphic>
          <a:graphicData uri="http://schemas.openxmlformats.org/drawingml/2006/table">
            <a:tbl>
              <a:tblPr/>
              <a:tblGrid>
                <a:gridCol w="2865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3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6835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3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Разрыв между подразделениями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Частота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Задержка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Потери, млн ₽/год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Продажи ↔ Планирование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38 % заказов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 дня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Планирование ↔ Снабжение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42 % планов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7,2 дня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 ↔ Логистика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27 % отгрузок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4,8 часа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Логистика ↔ Клиент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47 % доставок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часа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7576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 ↔ Качество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18 % продукции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6,7 часа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7699248" y="3401568"/>
            <a:ext cx="3986784" cy="2953512"/>
          </a:xfrm>
          <a:prstGeom prst="roundRect">
            <a:avLst>
              <a:gd name="adj" fmla="val 3309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8"/>
          <p:cNvSpPr txBox="1"/>
          <p:nvPr/>
        </p:nvSpPr>
        <p:spPr>
          <a:xfrm>
            <a:off x="7909560" y="3511296"/>
            <a:ext cx="3566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Первопричина</a:t>
            </a:r>
            <a:endParaRPr lang="en-US" dirty="0"/>
          </a:p>
        </p:txBody>
      </p:sp>
      <p:sp>
        <p:nvSpPr>
          <p:cNvPr id="32" name="Text 29"/>
          <p:cNvSpPr txBox="1"/>
          <p:nvPr/>
        </p:nvSpPr>
        <p:spPr>
          <a:xfrm>
            <a:off x="7909560" y="3840480"/>
            <a:ext cx="35661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Компания не формирует достоверный прогноз спроса, поэтому план производства, план закупок и график отгрузки строятся на неверных </a:t>
            </a:r>
            <a:r>
              <a:rPr lang="en-US" sz="1400" b="1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данных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 усиливается вниз по цепочке: 42 % избыточных запасов в низкий сезон, 12 % дефицита в пик, 14 этапов ручного согласования через 5 несвязанных ИТ-</a:t>
            </a:r>
            <a:r>
              <a:rPr lang="en-US" sz="14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из 1 370 </a:t>
            </a:r>
            <a:r>
              <a:rPr lang="en-US" sz="1400" b="1" dirty="0" err="1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 </a:t>
            </a:r>
            <a:r>
              <a:rPr lang="en-US" sz="1400" b="1" dirty="0" err="1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приходится</a:t>
            </a: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два верхних </a:t>
            </a:r>
            <a:r>
              <a:rPr lang="en-US" sz="1400" b="1" dirty="0" err="1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разрыва</a:t>
            </a: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оба замыкаются на управление спросом.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3213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475488" y="603504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Выбор метода моделирования процессов</a:t>
            </a:r>
            <a:endParaRPr lang="en-US" sz="27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26187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2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217920" y="1115568"/>
            <a:ext cx="15613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Видимость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горизонтальных стыков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687818" y="1115568"/>
            <a:ext cx="13327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Глубина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декомпозиции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9020556" y="1115568"/>
            <a:ext cx="13327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Готовые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10353294" y="1115568"/>
            <a:ext cx="133273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</a:t>
            </a:r>
            <a:endParaRPr lang="en-US" sz="1200" dirty="0"/>
          </a:p>
          <a:p>
            <a:pPr marL="0" indent="0" algn="ctr">
              <a:lnSpc>
                <a:spcPct val="95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бенчмаркинг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2920" y="1609344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7FAF7"/>
          </a:solidFill>
          <a:ln w="19050">
            <a:solidFill>
              <a:srgbClr val="3F7A5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85800" y="184708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3F7A55"/>
          </a:solidFill>
          <a:ln w="12700">
            <a:solidFill>
              <a:srgbClr val="3F7A55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" y="184708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ВЫБРАН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2194560" y="170078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APQC PCF</a:t>
            </a:r>
            <a:endParaRPr lang="en-US" dirty="0"/>
          </a:p>
        </p:txBody>
      </p:sp>
      <p:sp>
        <p:nvSpPr>
          <p:cNvPr id="15" name="Text 13"/>
          <p:cNvSpPr txBox="1"/>
          <p:nvPr/>
        </p:nvSpPr>
        <p:spPr>
          <a:xfrm>
            <a:off x="2194560" y="202996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Эталонная модель, 13 категорий, шифры процессов до 5 уровня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355080" y="160934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687818" y="160934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 5 уровня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9020556" y="160934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встроены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353294" y="160934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возможен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02920" y="2478024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85800" y="271576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85800" y="271576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ЧАСТИЧНО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2194560" y="256946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Экспертный метод</a:t>
            </a:r>
            <a:endParaRPr lang="en-US" dirty="0"/>
          </a:p>
        </p:txBody>
      </p:sp>
      <p:sp>
        <p:nvSpPr>
          <p:cNvPr id="24" name="Text 22"/>
          <p:cNvSpPr txBox="1"/>
          <p:nvPr/>
        </p:nvSpPr>
        <p:spPr>
          <a:xfrm>
            <a:off x="2194560" y="289864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Взята только классификация по 4 группам ПВУ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355080" y="247802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F7A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7687818" y="247802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шифров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9020556" y="247802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0353294" y="247802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502920" y="3346704"/>
            <a:ext cx="11185855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85800" y="3584448"/>
            <a:ext cx="1371600" cy="292608"/>
          </a:xfrm>
          <a:prstGeom prst="roundRect">
            <a:avLst>
              <a:gd name="adj" fmla="val 50000"/>
            </a:avLst>
          </a:prstGeom>
          <a:solidFill>
            <a:srgbClr val="A8322D"/>
          </a:solidFill>
          <a:ln w="12700">
            <a:solidFill>
              <a:srgbClr val="A8322D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85800" y="3584448"/>
            <a:ext cx="1371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ОТКЛОНЁН</a:t>
            </a:r>
            <a:endParaRPr lang="en-US" sz="800" dirty="0"/>
          </a:p>
        </p:txBody>
      </p:sp>
      <p:sp>
        <p:nvSpPr>
          <p:cNvPr id="32" name="Text 30"/>
          <p:cNvSpPr txBox="1"/>
          <p:nvPr/>
        </p:nvSpPr>
        <p:spPr>
          <a:xfrm>
            <a:off x="2194560" y="3438144"/>
            <a:ext cx="3931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Функциональная иерархия</a:t>
            </a:r>
            <a:endParaRPr lang="en-US" dirty="0"/>
          </a:p>
        </p:txBody>
      </p:sp>
      <p:sp>
        <p:nvSpPr>
          <p:cNvPr id="33" name="Text 31"/>
          <p:cNvSpPr txBox="1"/>
          <p:nvPr/>
        </p:nvSpPr>
        <p:spPr>
          <a:xfrm>
            <a:off x="2194560" y="3767328"/>
            <a:ext cx="4023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Производна от оргструктуры, закрепляет функциональные «колодцы»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6355080" y="334670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скрывает</a:t>
            </a:r>
            <a:endParaRPr lang="en-US" sz="1600" dirty="0"/>
          </a:p>
        </p:txBody>
      </p:sp>
      <p:sp>
        <p:nvSpPr>
          <p:cNvPr id="35" name="Text 33"/>
          <p:cNvSpPr txBox="1"/>
          <p:nvPr/>
        </p:nvSpPr>
        <p:spPr>
          <a:xfrm>
            <a:off x="7687818" y="334670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отделам</a:t>
            </a:r>
            <a:endParaRPr lang="en-US" sz="1600" dirty="0"/>
          </a:p>
        </p:txBody>
      </p:sp>
      <p:sp>
        <p:nvSpPr>
          <p:cNvPr id="36" name="Text 34"/>
          <p:cNvSpPr txBox="1"/>
          <p:nvPr/>
        </p:nvSpPr>
        <p:spPr>
          <a:xfrm>
            <a:off x="9020556" y="334670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353294" y="3346704"/>
            <a:ext cx="133273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A832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502920" y="4306824"/>
            <a:ext cx="11185855" cy="2276856"/>
          </a:xfrm>
          <a:prstGeom prst="rect">
            <a:avLst/>
          </a:prstGeom>
          <a:solidFill>
            <a:srgbClr val="F1F0EC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89000" y="4335870"/>
            <a:ext cx="107286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Итоговое решение: </a:t>
            </a:r>
            <a:r>
              <a:rPr lang="en-US" sz="1600" b="1" dirty="0" err="1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гибрид</a:t>
            </a:r>
            <a:r>
              <a:rPr lang="en-US" sz="16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APQC PCF и классификации экспертного метода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731520" y="4681728"/>
            <a:ext cx="107286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PCF: </a:t>
            </a:r>
            <a:r>
              <a:rPr lang="en-US" sz="12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</a:t>
            </a:r>
            <a:r>
              <a:rPr lang="ru-RU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</a:t>
            </a:r>
            <a:r>
              <a:rPr lang="en-US" sz="12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возника</a:t>
            </a:r>
            <a:r>
              <a:rPr lang="ru-RU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ют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на горизонтальных стыках. PCF описывает процессы без привязки к оргструктуре, поэтому стык виден как единая цепочка, а функциональная иерархия его бы скрыла. </a:t>
            </a:r>
            <a:r>
              <a:rPr lang="ru-RU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отступления от эталонной модели: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731520" y="5230368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4.0 развёрнута до уровней 2–3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553212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чистом PCF вся цепочка </a:t>
            </a:r>
            <a:r>
              <a:rPr lang="en-US" sz="120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поставок</a:t>
            </a: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один элемент, и 4 из 5 разрывов оказались бы скрыты внутри него</a:t>
            </a:r>
            <a:endParaRPr lang="en-US" sz="1200" dirty="0"/>
          </a:p>
        </p:txBody>
      </p:sp>
      <p:sp>
        <p:nvSpPr>
          <p:cNvPr id="43" name="Text 41"/>
          <p:cNvSpPr txBox="1"/>
          <p:nvPr/>
        </p:nvSpPr>
        <p:spPr>
          <a:xfrm>
            <a:off x="4383938" y="5230368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Каждой категории присвоена группа ПВУ</a:t>
            </a:r>
            <a:endParaRPr lang="en-US" sz="1400" dirty="0"/>
          </a:p>
        </p:txBody>
      </p:sp>
      <p:sp>
        <p:nvSpPr>
          <p:cNvPr id="44" name="Text 42"/>
          <p:cNvSpPr txBox="1"/>
          <p:nvPr/>
        </p:nvSpPr>
        <p:spPr>
          <a:xfrm>
            <a:off x="4383938" y="5532120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PCF деления на управляющие / основные / вспомогательные / </a:t>
            </a:r>
            <a:r>
              <a:rPr lang="en-US" sz="120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развития</a:t>
            </a: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</a:t>
            </a:r>
            <a:endParaRPr lang="en-US" sz="1200" dirty="0"/>
          </a:p>
        </p:txBody>
      </p:sp>
      <p:sp>
        <p:nvSpPr>
          <p:cNvPr id="45" name="Text 43"/>
          <p:cNvSpPr txBox="1"/>
          <p:nvPr/>
        </p:nvSpPr>
        <p:spPr>
          <a:xfrm>
            <a:off x="8036357" y="5316160"/>
            <a:ext cx="34238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r>
              <a:rPr lang="en-US" sz="14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Категория 5.0 «Предоставление услуг» исключена</a:t>
            </a:r>
            <a:endParaRPr lang="en-US" sz="1400" dirty="0"/>
          </a:p>
        </p:txBody>
      </p:sp>
      <p:sp>
        <p:nvSpPr>
          <p:cNvPr id="46" name="Text 44"/>
          <p:cNvSpPr txBox="1"/>
          <p:nvPr/>
        </p:nvSpPr>
        <p:spPr>
          <a:xfrm>
            <a:off x="8036357" y="5663632"/>
            <a:ext cx="342381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холдинг поставляет физические продукты, сервисных процессов в цепочке ценности нет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3213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992316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Модель процессов верхнего уровня в нотации VAD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992316" y="5303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процесс ПВУ в четырёх группах: управления (У1–У4), основные (О1–О8), вспомогательные (В1–В6), развития (Р1–Р3)</a:t>
            </a:r>
            <a:endParaRPr lang="en-US" sz="1150" dirty="0"/>
          </a:p>
        </p:txBody>
      </p:sp>
      <p:pic>
        <p:nvPicPr>
          <p:cNvPr id="6" name="Image 0" descr="img/va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279" y="1042416"/>
            <a:ext cx="12195280" cy="581558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3213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949958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Какие процессы берём в детализацию и почему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956816" y="52120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 каждому критерию от 1 до 5; итоговый </a:t>
            </a:r>
            <a:r>
              <a:rPr lang="en-US" sz="115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балл</a:t>
            </a: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сумма оценок, взвешенных по значимости критерия</a:t>
            </a:r>
            <a:endParaRPr lang="en-US" sz="11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7631713"/>
              </p:ext>
            </p:extLst>
          </p:nvPr>
        </p:nvGraphicFramePr>
        <p:xfrm>
          <a:off x="505663" y="886968"/>
          <a:ext cx="11183112" cy="2743200"/>
        </p:xfrm>
        <a:graphic>
          <a:graphicData uri="http://schemas.openxmlformats.org/drawingml/2006/table">
            <a:tbl>
              <a:tblPr/>
              <a:tblGrid>
                <a:gridCol w="594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650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Код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Процесс верхнего уровня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К1 · 0,35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К2 · 0,25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К3 · 0,15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К4 · 0,15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К5 · 0,10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Итог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Сквозное планирование спроса, производства и поставок (4.1)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О7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Транспортировка и доставка продукции клиентам (4.4.4)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Приём заказов и подтверждение возможности поставки (3.5.4)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3,70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Закупка сырья, материалов и услуг (4.2)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2,90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 строительных материалов (4.3)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Маркетинг и продажи (3.0)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2,75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Складирование, комплектация и отгрузка (4.4.3)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2,60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6517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Обслуживание клиентов и претензии (6.0)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02920" y="3730752"/>
            <a:ext cx="1118585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К1 </a:t>
            </a:r>
            <a:r>
              <a:rPr lang="ru-RU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прямые потери, млн ₽/год  ·  К2 </a:t>
            </a:r>
            <a:r>
              <a:rPr lang="ru-RU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отклонение от стратегической цели 2025  ·  К3 </a:t>
            </a:r>
            <a:r>
              <a:rPr lang="ru-RU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частота сбоя  ·  К4 </a:t>
            </a:r>
            <a:r>
              <a:rPr lang="ru-RU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вклад в целевой эффект 1 440 млн ₽  ·  К5 </a:t>
            </a:r>
            <a:r>
              <a:rPr lang="ru-RU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влияние на клиента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02920" y="4315968"/>
            <a:ext cx="3606698" cy="1554480"/>
          </a:xfrm>
          <a:prstGeom prst="roundRect">
            <a:avLst>
              <a:gd name="adj" fmla="val 5161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85800" y="4425696"/>
            <a:ext cx="324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1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4645152"/>
            <a:ext cx="324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О3 · 4.1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685800" y="4956048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планирование спроса, производства и поставок (S&amp;OP)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5394960"/>
            <a:ext cx="324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770 млн ₽ потерь на двух разрывах · декомпозиция до уровня 4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292498" y="4315968"/>
            <a:ext cx="3606698" cy="15544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475378" y="4425696"/>
            <a:ext cx="324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4475378" y="4645152"/>
            <a:ext cx="324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О7 · 4.4.4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4475378" y="4956048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Транспортировка и доставка продукции клиентам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4475378" y="5394960"/>
            <a:ext cx="324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OTIF 78,4 % при цели 92 % · 180 млн ₽ · декомпозиция до уровня 4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8082077" y="4315968"/>
            <a:ext cx="3606698" cy="155448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264957" y="4425696"/>
            <a:ext cx="324093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3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8264957" y="4645152"/>
            <a:ext cx="324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О2 · 3.5.4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8264957" y="4956048"/>
            <a:ext cx="324093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заказов и подтверждение возможности поставки (ATP)</a:t>
            </a:r>
            <a:endParaRPr lang="en-US" sz="1400" dirty="0"/>
          </a:p>
        </p:txBody>
      </p:sp>
      <p:sp>
        <p:nvSpPr>
          <p:cNvPr id="22" name="Text 19"/>
          <p:cNvSpPr txBox="1"/>
          <p:nvPr/>
        </p:nvSpPr>
        <p:spPr>
          <a:xfrm>
            <a:off x="8264957" y="5394960"/>
            <a:ext cx="324093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дней согласования вместо 2 · декомпозиция до уровня 5</a:t>
            </a:r>
            <a:endParaRPr lang="en-US" sz="1200" dirty="0"/>
          </a:p>
        </p:txBody>
      </p:sp>
      <p:sp>
        <p:nvSpPr>
          <p:cNvPr id="23" name="Text 20"/>
          <p:cNvSpPr txBox="1"/>
          <p:nvPr/>
        </p:nvSpPr>
        <p:spPr>
          <a:xfrm>
            <a:off x="502920" y="5943600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приоритета связаны одной причинной цепочкой: нет автоматической проверки доступности (О2) → нереалистичный план (О3) → сорванный график доставки (О7). Поэтому детализируются все три, но глубже </a:t>
            </a:r>
            <a:r>
              <a:rPr lang="en-US" sz="12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всех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О3.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628379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Проблемный процесс кейса и его аналог в APQC PCF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24916" y="594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Соответствие подтверждается тем, что все пять триггеров регламента ЛОГ-15/2024 однозначно отображаются на операции референтной модели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502920" y="990600"/>
            <a:ext cx="5432908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04088" y="1100328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ИЗ КЕЙСА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704088" y="1301496"/>
            <a:ext cx="50305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«Управление сезонными запасами строительных материалов»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704088" y="1775171"/>
            <a:ext cx="5030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Регламент ЛОГ-15/2024.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минимизация избыточных запасов в низкий сезон и дефицита в пиковый через прогнозирование спроса по погодным данным и календарю строительных работ. Пять триггеров, матрица RACI, семь метрик контроля.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55868" y="990600"/>
            <a:ext cx="5432908" cy="1481328"/>
          </a:xfrm>
          <a:prstGeom prst="roundRect">
            <a:avLst>
              <a:gd name="adj" fmla="val 4938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57036" y="1100328"/>
            <a:ext cx="50305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АНАЛОГ В РЕФЕРЕНТНОЙ МОДЕЛИ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6457036" y="1301496"/>
            <a:ext cx="503057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35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APQC PCF 4.1 «Планирование и согласование ресурсов цепочки поставок»</a:t>
            </a:r>
            <a:endParaRPr lang="en-US" sz="1350" dirty="0"/>
          </a:p>
        </p:txBody>
      </p:sp>
      <p:sp>
        <p:nvSpPr>
          <p:cNvPr id="13" name="Text 11"/>
          <p:cNvSpPr txBox="1"/>
          <p:nvPr/>
        </p:nvSpPr>
        <p:spPr>
          <a:xfrm>
            <a:off x="6457036" y="1775171"/>
            <a:ext cx="50305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Идентификатор PCF 10215. Восемь подпроцессов уровня 3 и 44 операции уровня 4. Встроенные метрики APQC: точность прогноза спроса в процентах от отгруженной стоимости и от отгруженных единиц.</a:t>
            </a:r>
            <a:endParaRPr lang="en-US" sz="105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0846447"/>
              </p:ext>
            </p:extLst>
          </p:nvPr>
        </p:nvGraphicFramePr>
        <p:xfrm>
          <a:off x="505664" y="2621280"/>
          <a:ext cx="11183112" cy="2956560"/>
        </p:xfrm>
        <a:graphic>
          <a:graphicData uri="http://schemas.openxmlformats.org/drawingml/2006/table">
            <a:tbl>
              <a:tblPr/>
              <a:tblGrid>
                <a:gridCol w="3977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82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регламента ЛОГ-15/2024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Операция APQC PCF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 контроля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1. Ежемесячное прогнозирование спроса (25-е число)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4.1.2  Управление спросом на продукцию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прогноза ≥ 85 %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2. Еженедельная корректировка плана производства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4.1.4.3  Ведение основного производственного графика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планов скорректированы при отклонении &gt; 15 %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3. Ежедневный мониторинг уровня запасов (08:00)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4.1.6.2  Ограничения по управлению запасами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дней с актуальными данными о запасах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4. Формирование заказа на доставку клиенту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4.1.2.4  Определить, что можно обещать (ATP)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95 % заказов с автоматическим расчётом времени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5. Отклонение от графика доставки (&gt; 30 минут)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4.4.4.2  Контроль эффективности доставки перевозчиком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4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задержек с уведомлением клиента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Shape 12"/>
          <p:cNvSpPr/>
          <p:nvPr/>
        </p:nvSpPr>
        <p:spPr>
          <a:xfrm>
            <a:off x="503072" y="5757672"/>
            <a:ext cx="11185855" cy="868680"/>
          </a:xfrm>
          <a:prstGeom prst="rect">
            <a:avLst/>
          </a:prstGeom>
          <a:solidFill>
            <a:srgbClr val="F1F0E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31672" y="5849112"/>
            <a:ext cx="1072865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об эквивалентности: 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кейса и процесс 4.1 PCF имеют один объект управления (баланс спроса, мощностей четырёх заводов, сырья и транспорта), один результат (согласованный план спроса, производства и отгрузок) и совпадающий набор контрольных метрик. Отличается только глубина: регламент описывает пять триггеров, PCF </a:t>
            </a:r>
            <a:r>
              <a:rPr lang="ru-RU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восемь подпроцессов и 44 операции, поэтому декомпозиция ведётся по шифрам APQC с адаптацией названий под специфику холдинга.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658618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 1: декомпозиция процесса 4.1 до уровня 4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3727" y="66751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 выделены операции, в которых возникает корневая причина потерь: обещание срока без проверки ресурсов и план, не ограниченный реальными поставками</a:t>
            </a:r>
            <a:endParaRPr lang="en-US" sz="1150" dirty="0"/>
          </a:p>
        </p:txBody>
      </p:sp>
      <p:pic>
        <p:nvPicPr>
          <p:cNvPr id="6" name="Image 0" descr="img/dec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51" y="941832"/>
            <a:ext cx="11560192" cy="591616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744218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процесса 4.1 по уровням — по форме задания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1789938" y="548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Источники: трёхуровневая система KPI кейса (разд. 6), «Библиотека KPI целей и процессов», встроенные метрики APQC</a:t>
            </a:r>
            <a:endParaRPr lang="en-US" sz="11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7694781"/>
              </p:ext>
            </p:extLst>
          </p:nvPr>
        </p:nvGraphicFramePr>
        <p:xfrm>
          <a:off x="354330" y="969264"/>
          <a:ext cx="11183112" cy="4992624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69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89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649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процесса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Название подпроцесса / операции и краткое содержание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Метрика, ед. изм.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Формула расчёта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 Сквозное планирование спроса, производства и поставок (S&amp;OP)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Баланс спроса, мощностей 4 заводов, сырья и транспорта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Точность прогноза спроса,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в пик ≈ 62* → цель 85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− |Факт − Прогноз| / Факт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4.1.2  Управление спросом на продукцию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Прогноз с учётом погоды, сезонности и календаря строек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Коэффициент сезонной неравномерности, раз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3,8 → цель 2,2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Спрос пикового месяца / Спрос низкого месяца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4.1.3  Формирование плана материалов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Перевод прогноза спроса в потребность в сырье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дефицита сырья в пиковый сезон,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12,7 → цель 5,0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(Потребность − Наличие) / Потребность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4.1.4  Основной производственный график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График выпуска четырёх заводов по консенсус-прогнозу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Коэффициент ритмичности производства,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 ≥ 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100 % − Σ отклонений выпуска / План выпуска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4.1.2.4  Определить, что можно обещать (ATP)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Автопроверка мощностей, сырья и транспорта до обещания срока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заказов с автоподтверждением ATP,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0 → цель 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Заказы с автопроверкой / Все заказы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4.1.2.7  Измерение точности прогноза спроса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Ежемесячный расчёт; ответственный — аналитик логистики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Средняя абсолютная ошибка прогноза MAPE,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|Факт − Прогноз| / Факт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4.1.3.5  Создание ограниченного плана поставок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с учётом возможностей поставщиков и сезонного запаса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избыточных запасов в низкий сезон,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факт 42 → цель 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(Факт − Оптимум) / Оптимум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4.1.4.3  Ведение основного графика производства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Корректировка при отклонении продаж более 15 % (Триггер 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автокорректировок плана,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цель 100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Автокорректировки / Требуемые корректировки × 100 %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 txBox="1"/>
          <p:nvPr/>
        </p:nvSpPr>
        <p:spPr>
          <a:xfrm>
            <a:off x="351587" y="6108192"/>
            <a:ext cx="111858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5 в ветке 4.1 эталонной модели APQC PCF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отсутствует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иерархия заканчивается на четвёртом уровне. Уровень 5 показан по ветке приоритета 3 (3.5.4.2), где референтная модель его содержит.</a:t>
            </a:r>
            <a:r>
              <a:rPr sz="1100">
                <a:latin typeface="Calibri"/>
              </a:rPr>
              <a:t>  * ≈ 62 % = 100 % − отклонение прогноза 38 % в пиковые периоды (расчёт команды; средней точности прогноза в кейсе нет).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658618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 2: декомпозиция процесса 4.4.4 до уровня 4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2688336" y="603504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Красным выделена операция, в которой ломается соблюдение графиков отгрузки: OTIF 78,4 % при цели 92 %</a:t>
            </a:r>
            <a:endParaRPr lang="en-US" sz="1150" dirty="0"/>
          </a:p>
        </p:txBody>
      </p:sp>
      <p:pic>
        <p:nvPicPr>
          <p:cNvPr id="6" name="Image 0" descr="img/dec44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08958"/>
            <a:ext cx="12192000" cy="416109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5230368"/>
            <a:ext cx="11185855" cy="1147572"/>
          </a:xfrm>
          <a:prstGeom prst="rect">
            <a:avLst/>
          </a:prstGeom>
          <a:solidFill>
            <a:srgbClr val="F1F0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5321808"/>
            <a:ext cx="10728655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Узкое место — операция 4.4.4.1: </a:t>
            </a:r>
            <a:r>
              <a:rPr lang="en-US" sz="14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 резервируется лишь за 4 часа до отгрузки, поэтому 27 % отгрузок ждут свободную машину (разрыв «Производство ↔ Логистика», 280 млн ₽/год), а водители получают маршрутные листы за 4 часа до выезда. Целевая логика: резервирование транспортного слота в момент подтверждения заказа (операция 3.5.4.5 приоритета 3), маршрутизация с учётом пробок и погоды, автоматическое уведомление клиента при отклонении более 30 минут (Триггер 5 регламента ЛОГ-15/2024).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993392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9933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624328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Приоритет 3: декомпозиция процесса 3.5.4 до уровня 5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2624328" y="591697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Единственная ветка, где эталонная модель APQC PCF содержит пятый уровень, </a:t>
            </a:r>
            <a:r>
              <a:rPr lang="ru-RU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3.5.4.2 «Ведение данных клиента»</a:t>
            </a:r>
            <a:endParaRPr lang="en-US" sz="1150" dirty="0"/>
          </a:p>
        </p:txBody>
      </p:sp>
      <p:pic>
        <p:nvPicPr>
          <p:cNvPr id="6" name="Image 0" descr="img/dec35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3184" y="866017"/>
            <a:ext cx="11717376" cy="5132447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02920" y="6053328"/>
            <a:ext cx="11185855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 «Согласование графика отгрузки» из раздела 5 </a:t>
            </a:r>
            <a:r>
              <a:rPr lang="en-US" sz="12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кейса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14 этапов и 9 рабочих дней при цели 2. Узловая операция 3.5.4.3 (ATP) связана с операцией 4.1.2.4 приоритета 1: срок клиенту называется до проверки мощностей, сырья и транспорта. Операция 3.5.4.7 критична потому, что сейчас любое изменение клиента возвращает заказ на этап 3 и запускает всю цепочку заново.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129284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1292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778508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Метрики приоритетов 2 и 3 по уровням 2–5</a:t>
            </a:r>
            <a:endParaRPr lang="en-US" sz="27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6529932"/>
              </p:ext>
            </p:extLst>
          </p:nvPr>
        </p:nvGraphicFramePr>
        <p:xfrm>
          <a:off x="502920" y="726948"/>
          <a:ext cx="11183112" cy="5975604"/>
        </p:xfrm>
        <a:graphic>
          <a:graphicData uri="http://schemas.openxmlformats.org/drawingml/2006/table">
            <a:tbl>
              <a:tblPr/>
              <a:tblGrid>
                <a:gridCol w="960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86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632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7355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процесса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Название подпроцесса / операции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Метрика, ед. изм.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Формула расчёта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0E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546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ПРИОРИТЕТ 2 · О7 · 4.4.4  Транспортировка и доставка продукции клиентам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  Управление логистикой и складированием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Идеальное выполнение заказа (Perfect Order),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Заказы без ошибок и в срок / Все заказы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  Транспортировка и доставка продукции клиентам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Соблюдение графиков отгрузки (OTIF), %  ·  78,4 → 92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Доставки в срок / Все доставки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4.4.4.1  Планирование, перевозка и доставка исходящей продукции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Среднее время доставки до клиента, ч  ·  2,8 → 2,1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времени в пути / Количество доставок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4.4.4.2  Контроль эффективности доставки перевозчиком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задержек с автоуведомлением клиента, %  ·  → 100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Уведомления / Задержки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4.4.4.3  Управление транспортным парком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Загрузка парка спецтехники, %  ·  68 → 85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работы ТС / Доступное время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4.4.4.4  Обработка и проверка перевозочных документов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Удельные логистические издержки, ₽/тонна  ·  1 840 → 1 420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Транспортные расходы / Объём перевозок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5468">
                <a:tc gridSpan="4"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ПРИОРИТЕТ 3 · О2 · 3.5.4  Приём заказов клиентов и подтверждение возможности поставки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  Разработка и управление планами продаж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Рост объёма продаж,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(Продажи − Продажи пред. периода) / Продажи пред. периода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3.5.4  Приём заказов и подтверждение возможности поставки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 согласования графика отгрузки, раб. дней  ·  9,0 → 2,0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Σ времени прохождения этапов / Количество заказов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3.5.4.3  Определение доступности к обещанию (ATP)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заказов с автопроверкой доступности, %  ·  0 → 95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Заказы с проверкой ATP / Все заказы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3.5.4.7  Обработка изменений и переносов заказа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заказов с изменением графика, %  ·  47 → 18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Изменённые заказы / Все заказы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315468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3.5.4.2.4  Ведение адресов объектов доставки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Доля адресов с географическими координатами,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Адреса с координатами / Все адреса × 100 %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0" descr="img/or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045"/>
            <a:ext cx="8478982" cy="6671111"/>
          </a:xfrm>
          <a:prstGeom prst="rect">
            <a:avLst/>
          </a:prstGeom>
        </p:spPr>
      </p:pic>
      <p:sp>
        <p:nvSpPr>
          <p:cNvPr id="2" name="Shape 0"/>
          <p:cNvSpPr/>
          <p:nvPr/>
        </p:nvSpPr>
        <p:spPr>
          <a:xfrm>
            <a:off x="502920" y="274320"/>
            <a:ext cx="13213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874977" y="128016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Организационная структура и владельцы процессов</a:t>
            </a:r>
            <a:endParaRPr lang="en-US" sz="2700" dirty="0"/>
          </a:p>
        </p:txBody>
      </p:sp>
      <p:sp>
        <p:nvSpPr>
          <p:cNvPr id="6" name="Text 3"/>
          <p:cNvSpPr txBox="1"/>
          <p:nvPr/>
        </p:nvSpPr>
        <p:spPr>
          <a:xfrm>
            <a:off x="7855458" y="630936"/>
            <a:ext cx="433654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950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оргструктура расходится с процессами</a:t>
            </a:r>
            <a:endParaRPr lang="en-US" sz="1200" dirty="0">
              <a:solidFill>
                <a:srgbClr val="D2691E"/>
              </a:solidFill>
            </a:endParaRPr>
          </a:p>
        </p:txBody>
      </p:sp>
      <p:sp>
        <p:nvSpPr>
          <p:cNvPr id="7" name="Shape 4"/>
          <p:cNvSpPr/>
          <p:nvPr/>
        </p:nvSpPr>
        <p:spPr>
          <a:xfrm>
            <a:off x="7855458" y="969264"/>
            <a:ext cx="201168" cy="201168"/>
          </a:xfrm>
          <a:prstGeom prst="ellipse">
            <a:avLst/>
          </a:prstGeom>
          <a:solidFill>
            <a:srgbClr val="C9C6BF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840972" y="847032"/>
            <a:ext cx="215654" cy="4376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75498" y="1010408"/>
            <a:ext cx="401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Владелец приоритета 1 </a:t>
            </a:r>
            <a:r>
              <a:rPr lang="ru-RU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самое малочисленное подразделение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175498" y="1343100"/>
            <a:ext cx="40165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планированию: 28 человек из более чем 1 250. Два процента персонала отвечают за процесс, на который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приходится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770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млн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₽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потерь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1 370.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7843041" y="2429560"/>
            <a:ext cx="201168" cy="201168"/>
          </a:xfrm>
          <a:prstGeom prst="ellipse">
            <a:avLst/>
          </a:prstGeom>
          <a:solidFill>
            <a:srgbClr val="C9C6BF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843041" y="24295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0"/>
          <p:cNvSpPr txBox="1"/>
          <p:nvPr/>
        </p:nvSpPr>
        <p:spPr>
          <a:xfrm>
            <a:off x="8163081" y="2392984"/>
            <a:ext cx="401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Сквозной срок «заказ → доставка» не принадлежит никому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163081" y="2667304"/>
            <a:ext cx="40165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О2 (3.5.4) закреплён за Коммерческим директором, О3 (4.1) и О7 (4.4.4) 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за Операционным. Владельца всей цепочки в структуре нет.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7840972" y="3810378"/>
            <a:ext cx="201168" cy="201168"/>
          </a:xfrm>
          <a:prstGeom prst="ellipse">
            <a:avLst/>
          </a:prstGeom>
          <a:solidFill>
            <a:srgbClr val="C9C6BF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840972" y="3810378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8161012" y="3773802"/>
            <a:ext cx="401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пять разрывов идут по границам подчинённости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8161012" y="4048122"/>
            <a:ext cx="40165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Продажи и планирование разведены в разные вертикали, поэтому менеджер обещает срок, не видя загрузки заводов и остатков сырья.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855458" y="5017460"/>
            <a:ext cx="201168" cy="201168"/>
          </a:xfrm>
          <a:prstGeom prst="ellipse">
            <a:avLst/>
          </a:prstGeom>
          <a:solidFill>
            <a:srgbClr val="D2691E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7855458" y="5017460"/>
            <a:ext cx="201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21" name="Text 18"/>
          <p:cNvSpPr txBox="1"/>
          <p:nvPr/>
        </p:nvSpPr>
        <p:spPr>
          <a:xfrm>
            <a:off x="8175498" y="4980884"/>
            <a:ext cx="40165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Организационное следствие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8175498" y="5255204"/>
            <a:ext cx="401650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н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азначить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владельца сквозного процесса S&amp;OP на уровне Операционного директора и передать ему метрики уровней 2–3 процесса 4.1.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321308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321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ЗАДАНИЕ 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1933585" y="155448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Дерево целей организации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563727" y="530352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цель второго уровня закреплена за процессом ПВУ и имеет метрику в формате «факт → цель»</a:t>
            </a:r>
            <a:endParaRPr lang="en-US" sz="1150" dirty="0"/>
          </a:p>
        </p:txBody>
      </p:sp>
      <p:pic>
        <p:nvPicPr>
          <p:cNvPr id="6" name="Image 0" descr="img/go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55669" y="998426"/>
            <a:ext cx="12303032" cy="3113903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502920" y="4663440"/>
            <a:ext cx="11185855" cy="1417320"/>
          </a:xfrm>
          <a:prstGeom prst="rect">
            <a:avLst/>
          </a:prstGeom>
          <a:solidFill>
            <a:srgbClr val="F1F0EC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31520" y="4754880"/>
            <a:ext cx="1072865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 дерево целей замыкается на модель процессов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07492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Миссия → видение → 4 стратегические цели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31520" y="5330952"/>
            <a:ext cx="33933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Стратегические цели взяты из раздела 1 кейса и раскрыты в 12 целей процессов; за каждой закреплён процесс ПВУ и его владелец.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4399178" y="507492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 покрывают 5 из 12 целей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399178" y="5330952"/>
            <a:ext cx="33933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Цели С2.1, С2.2, С2.3, С3.1 и С4.1 обеспечиваются приоритетными процессами О3 (4.1), О2 (3.5.4) и О7 (4.4.4).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8066837" y="5074920"/>
            <a:ext cx="339333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Общая система измерения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8066837" y="5330952"/>
            <a:ext cx="339333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Метрики целей совпадают с метриками </a:t>
            </a:r>
            <a:r>
              <a:rPr lang="en-US" sz="110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уровней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</a:t>
            </a:r>
            <a:r>
              <a:rPr lang="ru-RU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декомпозиции, поэтому дерево целей и модель процессов измеряются одними показателями.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4F1F22F1-6AFD-2BA9-5ED5-95C0859C58AC}"/>
              </a:ext>
            </a:extLst>
          </p:cNvPr>
          <p:cNvSpPr/>
          <p:nvPr/>
        </p:nvSpPr>
        <p:spPr>
          <a:xfrm>
            <a:off x="502920" y="274320"/>
            <a:ext cx="841248" cy="274320"/>
          </a:xfrm>
          <a:prstGeom prst="roundRect">
            <a:avLst>
              <a:gd name="adj" fmla="val 50000"/>
            </a:avLst>
          </a:prstGeom>
          <a:solidFill>
            <a:srgbClr val="2B2F33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958E242-9080-3B1D-8A3F-1107996FE905}"/>
              </a:ext>
            </a:extLst>
          </p:cNvPr>
          <p:cNvSpPr txBox="1"/>
          <p:nvPr/>
        </p:nvSpPr>
        <p:spPr>
          <a:xfrm>
            <a:off x="502920" y="274320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</a:t>
            </a:r>
            <a:endParaRPr lang="en-US" sz="850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7770E564-0E99-92F3-DD8F-06A9A9CD8360}"/>
              </a:ext>
            </a:extLst>
          </p:cNvPr>
          <p:cNvSpPr txBox="1"/>
          <p:nvPr/>
        </p:nvSpPr>
        <p:spPr>
          <a:xfrm>
            <a:off x="475488" y="603504"/>
            <a:ext cx="11155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Ожидаемый эффект и следующий шаг</a:t>
            </a:r>
            <a:endParaRPr lang="en-US" sz="2700" dirty="0"/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8E9A4A84-AB6A-02C8-F195-DF3CC8FFACBA}"/>
              </a:ext>
            </a:extLst>
          </p:cNvPr>
          <p:cNvSpPr txBox="1"/>
          <p:nvPr/>
        </p:nvSpPr>
        <p:spPr>
          <a:xfrm>
            <a:off x="502920" y="1115568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Финансовый эффект </a:t>
            </a:r>
            <a:r>
              <a:rPr lang="en-US" sz="1150" i="1" dirty="0" err="1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трансформации</a:t>
            </a: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</a:t>
            </a:r>
            <a:r>
              <a:rPr lang="en-US" sz="1150" i="1" dirty="0">
                <a:solidFill>
                  <a:srgbClr val="9A9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раздел 8 кейса; суммы в млн ₽ в год</a:t>
            </a:r>
            <a:endParaRPr lang="en-US" sz="1150" dirty="0"/>
          </a:p>
        </p:txBody>
      </p:sp>
      <p:sp>
        <p:nvSpPr>
          <p:cNvPr id="7" name="Shape 4">
            <a:extLst>
              <a:ext uri="{FF2B5EF4-FFF2-40B4-BE49-F238E27FC236}">
                <a16:creationId xmlns:a16="http://schemas.microsoft.com/office/drawing/2014/main" id="{F892C41F-811C-8C41-C9CA-71949E6AEE80}"/>
              </a:ext>
            </a:extLst>
          </p:cNvPr>
          <p:cNvSpPr/>
          <p:nvPr/>
        </p:nvSpPr>
        <p:spPr>
          <a:xfrm>
            <a:off x="502920" y="1572768"/>
            <a:ext cx="2120128" cy="1188720"/>
          </a:xfrm>
          <a:prstGeom prst="roundRect">
            <a:avLst>
              <a:gd name="adj" fmla="val 6154"/>
            </a:avLst>
          </a:prstGeom>
          <a:solidFill>
            <a:srgbClr val="3A3F45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54B59AD7-21FB-01E2-427C-AA56691C0C6C}"/>
              </a:ext>
            </a:extLst>
          </p:cNvPr>
          <p:cNvSpPr txBox="1"/>
          <p:nvPr/>
        </p:nvSpPr>
        <p:spPr>
          <a:xfrm>
            <a:off x="502920" y="1682496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680</a:t>
            </a:r>
            <a:endParaRPr lang="en-US" sz="3000"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E3A4F290-5D1D-4E35-7E02-99F6B5E8A87E}"/>
              </a:ext>
            </a:extLst>
          </p:cNvPr>
          <p:cNvSpPr txBox="1"/>
          <p:nvPr/>
        </p:nvSpPr>
        <p:spPr>
          <a:xfrm>
            <a:off x="502920" y="2176272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избыточных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запасов</a:t>
            </a:r>
            <a:endParaRPr lang="en-US" sz="950" dirty="0"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5975B76-3E3F-D056-4183-491DFA91040B}"/>
              </a:ext>
            </a:extLst>
          </p:cNvPr>
          <p:cNvSpPr/>
          <p:nvPr/>
        </p:nvSpPr>
        <p:spPr>
          <a:xfrm>
            <a:off x="2769352" y="1572768"/>
            <a:ext cx="2120128" cy="1188720"/>
          </a:xfrm>
          <a:prstGeom prst="roundRect">
            <a:avLst>
              <a:gd name="adj" fmla="val 6154"/>
            </a:avLst>
          </a:prstGeom>
          <a:solidFill>
            <a:srgbClr val="3A3F45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22AEF5E-DC4B-BF74-C25A-90FC1DA739D8}"/>
              </a:ext>
            </a:extLst>
          </p:cNvPr>
          <p:cNvSpPr txBox="1"/>
          <p:nvPr/>
        </p:nvSpPr>
        <p:spPr>
          <a:xfrm>
            <a:off x="2769352" y="1682496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320</a:t>
            </a:r>
            <a:endParaRPr lang="en-US" sz="3000" dirty="0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F9F3E0F4-085A-F656-ADC4-752D318D073D}"/>
              </a:ext>
            </a:extLst>
          </p:cNvPr>
          <p:cNvSpPr txBox="1"/>
          <p:nvPr/>
        </p:nvSpPr>
        <p:spPr>
          <a:xfrm>
            <a:off x="2769352" y="2176272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потерь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дефицита в пик</a:t>
            </a:r>
            <a:endParaRPr lang="en-US" sz="950" dirty="0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9860F0B6-9A51-99F8-36EF-684FE7C390BE}"/>
              </a:ext>
            </a:extLst>
          </p:cNvPr>
          <p:cNvSpPr/>
          <p:nvPr/>
        </p:nvSpPr>
        <p:spPr>
          <a:xfrm>
            <a:off x="5035784" y="1572768"/>
            <a:ext cx="2120128" cy="1188720"/>
          </a:xfrm>
          <a:prstGeom prst="roundRect">
            <a:avLst>
              <a:gd name="adj" fmla="val 6154"/>
            </a:avLst>
          </a:prstGeom>
          <a:solidFill>
            <a:srgbClr val="3A3F45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DAE6D504-14B8-07B2-ABBD-8747671C4AF0}"/>
              </a:ext>
            </a:extLst>
          </p:cNvPr>
          <p:cNvSpPr txBox="1"/>
          <p:nvPr/>
        </p:nvSpPr>
        <p:spPr>
          <a:xfrm>
            <a:off x="5035784" y="1682496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180</a:t>
            </a:r>
            <a:endParaRPr lang="en-US" sz="300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6C117FF-9E8B-5452-EFCF-6DCFBCCEAF6B}"/>
              </a:ext>
            </a:extLst>
          </p:cNvPr>
          <p:cNvSpPr txBox="1"/>
          <p:nvPr/>
        </p:nvSpPr>
        <p:spPr>
          <a:xfrm>
            <a:off x="5035784" y="2176272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выручки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 счёт лояльности</a:t>
            </a:r>
            <a:endParaRPr lang="en-US" sz="950" dirty="0"/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49C39EA1-3CC8-79F0-16F4-E016E757DCA1}"/>
              </a:ext>
            </a:extLst>
          </p:cNvPr>
          <p:cNvSpPr/>
          <p:nvPr/>
        </p:nvSpPr>
        <p:spPr>
          <a:xfrm>
            <a:off x="7302216" y="1572768"/>
            <a:ext cx="2120128" cy="1188720"/>
          </a:xfrm>
          <a:prstGeom prst="roundRect">
            <a:avLst>
              <a:gd name="adj" fmla="val 6154"/>
            </a:avLst>
          </a:prstGeom>
          <a:solidFill>
            <a:srgbClr val="3A3F45"/>
          </a:solidFill>
          <a:ln w="12700">
            <a:solidFill>
              <a:srgbClr val="3A3F45"/>
            </a:solidFill>
            <a:prstDash val="solid"/>
          </a:ln>
        </p:spPr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0F082EF0-7D5A-07E6-7876-5F7E1659E554}"/>
              </a:ext>
            </a:extLst>
          </p:cNvPr>
          <p:cNvSpPr txBox="1"/>
          <p:nvPr/>
        </p:nvSpPr>
        <p:spPr>
          <a:xfrm>
            <a:off x="7302216" y="1682496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140</a:t>
            </a:r>
            <a:endParaRPr lang="en-US" sz="3000" dirty="0"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E3AF874D-6699-DFA4-D29D-821A0B384435}"/>
              </a:ext>
            </a:extLst>
          </p:cNvPr>
          <p:cNvSpPr txBox="1"/>
          <p:nvPr/>
        </p:nvSpPr>
        <p:spPr>
          <a:xfrm>
            <a:off x="7302216" y="2176272"/>
            <a:ext cx="212012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Снижение штрафных</a:t>
            </a:r>
            <a:endParaRPr lang="en-US" sz="95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санкций</a:t>
            </a:r>
            <a:endParaRPr lang="en-US" sz="950" dirty="0"/>
          </a:p>
        </p:txBody>
      </p:sp>
      <p:sp>
        <p:nvSpPr>
          <p:cNvPr id="19" name="Text 20">
            <a:extLst>
              <a:ext uri="{FF2B5EF4-FFF2-40B4-BE49-F238E27FC236}">
                <a16:creationId xmlns:a16="http://schemas.microsoft.com/office/drawing/2014/main" id="{4676BAC8-D678-FEB6-712F-D2C9AD4899D1}"/>
              </a:ext>
            </a:extLst>
          </p:cNvPr>
          <p:cNvSpPr txBox="1"/>
          <p:nvPr/>
        </p:nvSpPr>
        <p:spPr>
          <a:xfrm>
            <a:off x="777240" y="2999232"/>
            <a:ext cx="1063721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Итого 1 440 млн ₽ в год</a:t>
            </a:r>
            <a:r>
              <a:rPr lang="en-US" sz="1100" dirty="0">
                <a:solidFill>
                  <a:srgbClr val="D8D5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·     срок окупаемости проекта 16 месяцев     ·     цель по соблюдению графиков отгрузки 92 % при факте 78,4 %</a:t>
            </a:r>
            <a:endParaRPr lang="en-US" sz="1400" dirty="0"/>
          </a:p>
        </p:txBody>
      </p:sp>
      <p:sp>
        <p:nvSpPr>
          <p:cNvPr id="20" name="TextBox 19"/>
          <p:cNvSpPr txBox="1"/>
          <p:nvPr/>
        </p:nvSpPr>
        <p:spPr>
          <a:xfrm>
            <a:off x="777240" y="4206240"/>
            <a:ext cx="43501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dirty="0" err="1">
                <a:solidFill>
                  <a:srgbClr val="C9C6BF"/>
                </a:solidFill>
                <a:latin typeface="Calibri"/>
              </a:rPr>
              <a:t>Далее</a:t>
            </a:r>
            <a:r>
              <a:rPr dirty="0">
                <a:solidFill>
                  <a:srgbClr val="C9C6BF"/>
                </a:solidFill>
                <a:latin typeface="Calibri"/>
              </a:rPr>
              <a:t> </a:t>
            </a:r>
            <a:r>
              <a:rPr lang="ru-RU" dirty="0">
                <a:solidFill>
                  <a:srgbClr val="C9C6BF"/>
                </a:solidFill>
                <a:latin typeface="Calibri"/>
              </a:rPr>
              <a:t>-</a:t>
            </a:r>
            <a:r>
              <a:rPr dirty="0">
                <a:solidFill>
                  <a:srgbClr val="C9C6BF"/>
                </a:solidFill>
                <a:latin typeface="Calibri"/>
              </a:rPr>
              <a:t> </a:t>
            </a:r>
            <a:r>
              <a:rPr dirty="0" err="1">
                <a:solidFill>
                  <a:srgbClr val="C9C6BF"/>
                </a:solidFill>
                <a:latin typeface="Calibri"/>
              </a:rPr>
              <a:t>отчёт</a:t>
            </a:r>
            <a:r>
              <a:rPr dirty="0">
                <a:solidFill>
                  <a:srgbClr val="C9C6BF"/>
                </a:solidFill>
                <a:latin typeface="Calibri"/>
              </a:rPr>
              <a:t> </a:t>
            </a:r>
            <a:r>
              <a:rPr dirty="0" err="1">
                <a:solidFill>
                  <a:srgbClr val="C9C6BF"/>
                </a:solidFill>
                <a:latin typeface="Calibri"/>
              </a:rPr>
              <a:t>по</a:t>
            </a:r>
            <a:r>
              <a:rPr dirty="0">
                <a:solidFill>
                  <a:srgbClr val="C9C6BF"/>
                </a:solidFill>
                <a:latin typeface="Calibri"/>
              </a:rPr>
              <a:t> </a:t>
            </a:r>
            <a:r>
              <a:rPr dirty="0" err="1">
                <a:solidFill>
                  <a:srgbClr val="C9C6BF"/>
                </a:solidFill>
                <a:latin typeface="Calibri"/>
              </a:rPr>
              <a:t>заданию</a:t>
            </a:r>
            <a:r>
              <a:rPr lang="ru-RU" dirty="0">
                <a:solidFill>
                  <a:srgbClr val="C9C6BF"/>
                </a:solidFill>
                <a:latin typeface="Calibri"/>
              </a:rPr>
              <a:t> к семинару</a:t>
            </a:r>
            <a:r>
              <a:rPr dirty="0">
                <a:solidFill>
                  <a:srgbClr val="C9C6BF"/>
                </a:solidFill>
                <a:latin typeface="Calibri"/>
              </a:rPr>
              <a:t> 2 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234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 </a:t>
            </a: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7406640" y="1783080"/>
            <a:ext cx="1554480" cy="3200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 и матрица RASCI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1600200" cy="3200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«СтройМатериалы-Холдинг» · проблемы сезонности и логистики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01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ru-RU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ДЗ</a:t>
            </a:r>
            <a:r>
              <a:rPr lang="ru-RU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1: О3 4.1 сквозное планирование (S&amp;OP) </a:t>
            </a:r>
            <a:r>
              <a:rPr lang="ru-RU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О2 3.5.4 согласование графика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отгрузки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О7 4.4.4 доставка</a:t>
            </a:r>
            <a:endParaRPr lang="en-US" sz="12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D861999-A096-BCC4-AEA9-A273FE01E5DC}"/>
              </a:ext>
            </a:extLst>
          </p:cNvPr>
          <p:cNvSpPr txBox="1"/>
          <p:nvPr/>
        </p:nvSpPr>
        <p:spPr>
          <a:xfrm>
            <a:off x="768096" y="45948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D1B96A8-3E49-7D7D-AC5B-DE8073BDA353}"/>
              </a:ext>
            </a:extLst>
          </p:cNvPr>
          <p:cNvSpPr txBox="1"/>
          <p:nvPr/>
        </p:nvSpPr>
        <p:spPr>
          <a:xfrm>
            <a:off x="768096" y="48691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Денисенко Денис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Коптюбенко Тимофей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Богданов Богдан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Лапин Юрий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Трюхан Борис</a:t>
            </a:r>
            <a:endParaRPr lang="en-US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A · СЕМИНАР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491740" y="155448"/>
            <a:ext cx="91970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 верхнего уровня: цепочка создания ценности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(гипотеза): обеспечить застройщику бесперебойное снабжение объекта строительными материалами в объёме и в срок, заявленные в договоре, при сезонном колебании спроса до 3,8 раза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619756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70632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87468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38344" y="1481328"/>
            <a:ext cx="2103120" cy="4663440"/>
          </a:xfrm>
          <a:prstGeom prst="rect">
            <a:avLst/>
          </a:prstGeom>
          <a:solidFill>
            <a:srgbClr val="FDF6F0"/>
          </a:solidFill>
          <a:ln w="12700">
            <a:solidFill>
              <a:srgbClr val="FDF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155180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06056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422892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73768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03504" y="159105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76656" y="161848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Клиенты-застройщики: ТПС, ПИК, ЛСР; 12 регионов сбыта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" y="236430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76656" y="239174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 сырья: цемент, песок, щебень, арматура, добавки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" y="313756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76656" y="316499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Перевозчики и лизингодатели спецтехники *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" y="391081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76656" y="393824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Регуляторы и стандарты: ГОСТ, СП, Ростехнадзор *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" y="468406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76656" y="471150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Управляющие процессы У1–У4: стратегия, бюджет, риски, СМК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" y="545732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76656" y="548475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Функциональные службы: финансы, юристы, HR, ИТ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2871216" y="159105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3090672" y="161848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Заказы и годовые графики строительных работ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71216" y="236430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3090672" y="239174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Сырьё и материалы по договорам поставки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71216" y="313756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3090672" y="316499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Транспортные мощности, 85 ед. спецтехники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71216" y="391081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3090672" y="393824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Погодные данные и сезонные коэффициенты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2871216" y="468406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3090672" y="471150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Нормативы качества, рецептуры, техрегламенты *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71216" y="545732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3090672" y="548475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Бюджет и цели развития до 2027 года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38928" y="1591056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5212080" y="1618488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Маркетинг и продажи (3.0)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048756" y="2032254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Shape 50"/>
          <p:cNvSpPr/>
          <p:nvPr/>
        </p:nvSpPr>
        <p:spPr>
          <a:xfrm>
            <a:off x="5138928" y="2164842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3" name="Text 51"/>
          <p:cNvSpPr txBox="1"/>
          <p:nvPr/>
        </p:nvSpPr>
        <p:spPr>
          <a:xfrm>
            <a:off x="5212080" y="2192274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 заказов и подтверждение поставки (3.5.4)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6048756" y="2606040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5" name="Shape 53"/>
          <p:cNvSpPr/>
          <p:nvPr/>
        </p:nvSpPr>
        <p:spPr>
          <a:xfrm>
            <a:off x="5138928" y="2738628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Text 54"/>
          <p:cNvSpPr txBox="1"/>
          <p:nvPr/>
        </p:nvSpPr>
        <p:spPr>
          <a:xfrm>
            <a:off x="5212080" y="2766060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О3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Сквозное планирование спроса и поставок (4.1)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6048756" y="3179826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8" name="Shape 56"/>
          <p:cNvSpPr/>
          <p:nvPr/>
        </p:nvSpPr>
        <p:spPr>
          <a:xfrm>
            <a:off x="5138928" y="3312414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Text 57"/>
          <p:cNvSpPr txBox="1"/>
          <p:nvPr/>
        </p:nvSpPr>
        <p:spPr>
          <a:xfrm>
            <a:off x="5212080" y="3339846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О4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Закупка сырья, материалов и услуг (4.2)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6048756" y="3753612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1" name="Shape 59"/>
          <p:cNvSpPr/>
          <p:nvPr/>
        </p:nvSpPr>
        <p:spPr>
          <a:xfrm>
            <a:off x="5138928" y="3886200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Text 60"/>
          <p:cNvSpPr txBox="1"/>
          <p:nvPr/>
        </p:nvSpPr>
        <p:spPr>
          <a:xfrm>
            <a:off x="5212080" y="3913632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О5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Производство: ЖБИ, кирпич, смеси, металлоконструкции (4.3)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6048756" y="4327398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4" name="Shape 62"/>
          <p:cNvSpPr/>
          <p:nvPr/>
        </p:nvSpPr>
        <p:spPr>
          <a:xfrm>
            <a:off x="5138928" y="4459986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Text 63"/>
          <p:cNvSpPr txBox="1"/>
          <p:nvPr/>
        </p:nvSpPr>
        <p:spPr>
          <a:xfrm>
            <a:off x="5212080" y="4487418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О6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Складирование, комплектация, отгрузка (4.4.3)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6048756" y="4901184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7" name="Shape 65"/>
          <p:cNvSpPr/>
          <p:nvPr/>
        </p:nvSpPr>
        <p:spPr>
          <a:xfrm>
            <a:off x="5138928" y="5033772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Text 66"/>
          <p:cNvSpPr txBox="1"/>
          <p:nvPr/>
        </p:nvSpPr>
        <p:spPr>
          <a:xfrm>
            <a:off x="5212080" y="5061204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О7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Транспортировка и доставка клиентам (4.4.4)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6048756" y="5474970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0" name="Shape 68"/>
          <p:cNvSpPr/>
          <p:nvPr/>
        </p:nvSpPr>
        <p:spPr>
          <a:xfrm>
            <a:off x="5138928" y="5607558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Text 69"/>
          <p:cNvSpPr txBox="1"/>
          <p:nvPr/>
        </p:nvSpPr>
        <p:spPr>
          <a:xfrm>
            <a:off x="5212080" y="5634990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О8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Обслуживание клиентов и претензии (6.0)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406640" y="159105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3" name="Text 71"/>
          <p:cNvSpPr txBox="1"/>
          <p:nvPr/>
        </p:nvSpPr>
        <p:spPr>
          <a:xfrm>
            <a:off x="7626096" y="161848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Партия материалов, доставленная на объект в срок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7406640" y="236430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7626096" y="239174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Подтверждённый заказ с датой отгрузки</a:t>
            </a:r>
            <a:endParaRPr lang="en-US" sz="900" dirty="0"/>
          </a:p>
        </p:txBody>
      </p:sp>
      <p:sp>
        <p:nvSpPr>
          <p:cNvPr id="76" name="Shape 74"/>
          <p:cNvSpPr/>
          <p:nvPr/>
        </p:nvSpPr>
        <p:spPr>
          <a:xfrm>
            <a:off x="7406640" y="313756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7626096" y="316499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Согласованный план S&amp;OP на 12 месяцев *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06640" y="391081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 txBox="1"/>
          <p:nvPr/>
        </p:nvSpPr>
        <p:spPr>
          <a:xfrm>
            <a:off x="7626096" y="393824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качества, ТТН, УПД, акты приёмки *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7406640" y="468406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 txBox="1"/>
          <p:nvPr/>
        </p:nvSpPr>
        <p:spPr>
          <a:xfrm>
            <a:off x="7626096" y="471150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Решения по претензиям и акты расхождений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406640" y="545732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626096" y="548475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Отчётность: OTIF, MAPE, ₽/тонна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9674352" y="159105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 txBox="1"/>
          <p:nvPr/>
        </p:nvSpPr>
        <p:spPr>
          <a:xfrm>
            <a:off x="9747504" y="161848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Застройщик и бригада на строительной площадке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9674352" y="236430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 txBox="1"/>
          <p:nvPr/>
        </p:nvSpPr>
        <p:spPr>
          <a:xfrm>
            <a:off x="9747504" y="239174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 сырья: прогнозный график закупок из плана S&amp;OP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9674352" y="313756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747504" y="316499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Производство, снабжение, логистика: план работы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674352" y="391081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 txBox="1"/>
          <p:nvPr/>
        </p:nvSpPr>
        <p:spPr>
          <a:xfrm>
            <a:off x="9747504" y="393824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Коммерческая дирекция: подтверждённые сроки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674352" y="468406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 txBox="1"/>
          <p:nvPr/>
        </p:nvSpPr>
        <p:spPr>
          <a:xfrm>
            <a:off x="9747504" y="471150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и бухгалтерия: документы и выручка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674352" y="545732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 txBox="1"/>
          <p:nvPr/>
        </p:nvSpPr>
        <p:spPr>
          <a:xfrm>
            <a:off x="9747504" y="548475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Совет директоров: отчётность по целям 2027 *</a:t>
            </a:r>
            <a:endParaRPr lang="en-US" sz="900" dirty="0"/>
          </a:p>
        </p:txBody>
      </p:sp>
      <p:cxnSp>
        <p:nvCxnSpPr>
          <p:cNvPr id="96" name="Connector 95"/>
          <p:cNvCxnSpPr/>
          <p:nvPr/>
        </p:nvCxnSpPr>
        <p:spPr>
          <a:xfrm>
            <a:off x="2505456" y="1879092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7" name="Connector 96"/>
          <p:cNvCxnSpPr/>
          <p:nvPr/>
        </p:nvCxnSpPr>
        <p:spPr>
          <a:xfrm>
            <a:off x="2505456" y="2651760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505456" y="3424427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4718304" y="1879092"/>
            <a:ext cx="420624" cy="500176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718304" y="2651760"/>
            <a:ext cx="420624" cy="874166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718304" y="3424427"/>
            <a:ext cx="420624" cy="182148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7040880" y="1879092"/>
            <a:ext cx="420624" cy="336682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>
            <a:off x="7040880" y="2379268"/>
            <a:ext cx="420624" cy="272492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7040880" y="2952597"/>
            <a:ext cx="420624" cy="47183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9253728" y="1879092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9253728" y="1879092"/>
            <a:ext cx="420624" cy="772668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253728" y="3424427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>
            <a:off x="10625328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 flipH="1">
            <a:off x="3822191" y="6254496"/>
            <a:ext cx="6803137" cy="0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V="1">
            <a:off x="3822191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502920" y="6291072"/>
            <a:ext cx="11173968" cy="169277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i="1" dirty="0">
                <a:solidFill>
                  <a:srgbClr val="5A6169"/>
                </a:solidFill>
              </a:rPr>
              <a:t>Пунктир — </a:t>
            </a:r>
            <a:r>
              <a:rPr lang="ru-RU" sz="1100" i="1" dirty="0">
                <a:solidFill>
                  <a:srgbClr val="5A6169"/>
                </a:solidFill>
                <a:latin typeface="Calibri"/>
              </a:rPr>
              <a:t>обратная связь потребителей ко входам цепочки. </a:t>
            </a:r>
            <a:r>
              <a:rPr sz="1100" i="1" dirty="0">
                <a:solidFill>
                  <a:srgbClr val="5A6169"/>
                </a:solidFill>
                <a:latin typeface="Calibri"/>
              </a:rPr>
              <a:t>* — </a:t>
            </a:r>
            <a:r>
              <a:rPr sz="1100" i="1" dirty="0" err="1">
                <a:solidFill>
                  <a:srgbClr val="5A6169"/>
                </a:solidFill>
                <a:latin typeface="Calibri"/>
              </a:rPr>
              <a:t>допущени</a:t>
            </a:r>
            <a:r>
              <a:rPr lang="ru-RU" sz="1100" i="1" dirty="0">
                <a:solidFill>
                  <a:srgbClr val="5A6169"/>
                </a:solidFill>
                <a:latin typeface="Calibri"/>
              </a:rPr>
              <a:t>е команды</a:t>
            </a:r>
            <a:r>
              <a:rPr sz="1100" i="1" dirty="0">
                <a:solidFill>
                  <a:srgbClr val="5A6169"/>
                </a:solidFill>
                <a:latin typeface="Calibri"/>
              </a:rPr>
              <a:t>, </a:t>
            </a:r>
            <a:r>
              <a:rPr lang="ru-RU" sz="1100" i="1" dirty="0">
                <a:solidFill>
                  <a:srgbClr val="5A6169"/>
                </a:solidFill>
                <a:latin typeface="Calibri"/>
              </a:rPr>
              <a:t>отсутствует </a:t>
            </a:r>
            <a:r>
              <a:rPr sz="1100" i="1" dirty="0" err="1">
                <a:solidFill>
                  <a:srgbClr val="5A6169"/>
                </a:solidFill>
                <a:latin typeface="Calibri"/>
              </a:rPr>
              <a:t>в</a:t>
            </a:r>
            <a:r>
              <a:rPr sz="1100" i="1" dirty="0">
                <a:solidFill>
                  <a:srgbClr val="5A6169"/>
                </a:solidFill>
                <a:latin typeface="Calibri"/>
              </a:rPr>
              <a:t> </a:t>
            </a:r>
            <a:r>
              <a:rPr sz="1100" i="1" dirty="0" err="1">
                <a:solidFill>
                  <a:srgbClr val="5A6169"/>
                </a:solidFill>
                <a:latin typeface="Calibri"/>
              </a:rPr>
              <a:t>кейсе</a:t>
            </a:r>
            <a:r>
              <a:rPr lang="ru-RU" sz="1100" i="1" dirty="0">
                <a:solidFill>
                  <a:srgbClr val="5A6169"/>
                </a:solidFill>
                <a:latin typeface="Calibri"/>
              </a:rPr>
              <a:t>.</a:t>
            </a:r>
            <a:endParaRPr sz="1100" i="1" dirty="0">
              <a:solidFill>
                <a:srgbClr val="5A6169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5316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5316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НАЗВАНИЯ И ЦЕЛИ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217420" y="155448"/>
            <a:ext cx="94713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Гипотезы целей процессов — взгляд потребителя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0350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формулировалась по трём условиям задания: ориентирует на результат, но не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копирует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его</a:t>
            </a:r>
            <a:r>
              <a:rPr lang="ru-RU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дополняет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условиями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создания</a:t>
            </a:r>
            <a:r>
              <a:rPr lang="ru-RU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учитывает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конкретного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143000"/>
            <a:ext cx="11183112" cy="1417320"/>
          </a:xfrm>
          <a:prstGeom prst="roundRect">
            <a:avLst>
              <a:gd name="adj" fmla="val 3750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31520" y="1252728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1 · О3 · APQC PCF 4.1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1472184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Сквозное планирование спроса, производства и поставок (S&amp;OP)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160520" y="1307592"/>
            <a:ext cx="18288" cy="1133856"/>
          </a:xfrm>
          <a:prstGeom prst="rect">
            <a:avLst/>
          </a:prstGeom>
          <a:solidFill>
            <a:srgbClr val="C9C6B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4389120" y="1289304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(гипотеза).  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Ежемесячно давать заводам, снабжению и логистике один согласованный и ресурсно-обеспеченный план на 12 месяцев*, выдерживающий сезонный перепад спроса, — чтобы коммерческая дирекция подтверждала клиенту срок без запроса на заводы.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89720" y="1307592"/>
            <a:ext cx="18288" cy="1133856"/>
          </a:xfrm>
          <a:prstGeom prst="rect">
            <a:avLst/>
          </a:prstGeom>
          <a:solidFill>
            <a:srgbClr val="C9C6B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9418320" y="1289304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Потребитель — внутренний: производство, снабжение, логистика, продажи. Результат —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условие — согласованность и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обеспеченность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ресурсами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адресат назван явно.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02920" y="4215384"/>
            <a:ext cx="11183112" cy="1417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731520" y="4325112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3 · О2 · APQC PCF 3.5.4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4544568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Приём заказов клиентов и подтверждение возможности поставки (ATP)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60520" y="4379976"/>
            <a:ext cx="18288" cy="1133856"/>
          </a:xfrm>
          <a:prstGeom prst="rect">
            <a:avLst/>
          </a:prstGeom>
          <a:solidFill>
            <a:srgbClr val="C9C6B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4389120" y="4361688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(гипотеза).  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Давать застройщику проверенный по мощностям, сырью и транспорту срок отгрузки не позднее второго рабочего дня после заявки и не пересматривать его, — чтобы прораб планировал работы по нашей дате.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89720" y="4379976"/>
            <a:ext cx="18288" cy="1133856"/>
          </a:xfrm>
          <a:prstGeom prst="rect">
            <a:avLst/>
          </a:prstGeom>
          <a:solidFill>
            <a:srgbClr val="C9C6B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Text 19"/>
          <p:cNvSpPr txBox="1"/>
          <p:nvPr/>
        </p:nvSpPr>
        <p:spPr>
          <a:xfrm>
            <a:off x="9418320" y="4361688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Потребитель — внешний (застройщик) и внутренний (планирование). Результат —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подтверждённый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словие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проверенность и неизменность даты.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2920" y="2679192"/>
            <a:ext cx="11183112" cy="1417320"/>
          </a:xfrm>
          <a:prstGeom prst="roundRect">
            <a:avLst>
              <a:gd name="adj" fmla="val 3750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731520" y="2788920"/>
            <a:ext cx="3291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2 · О7 · APQC PCF 4.4.4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3008376"/>
            <a:ext cx="32918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6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Транспортировка и доставка продукции клиентам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160520" y="2843784"/>
            <a:ext cx="18288" cy="1133856"/>
          </a:xfrm>
          <a:prstGeom prst="rect">
            <a:avLst/>
          </a:prstGeom>
          <a:solidFill>
            <a:srgbClr val="C9C6B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7" name="Text 25"/>
          <p:cNvSpPr txBox="1"/>
          <p:nvPr/>
        </p:nvSpPr>
        <p:spPr>
          <a:xfrm>
            <a:off x="4389120" y="2825496"/>
            <a:ext cx="461772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(гипотеза).  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Привозить на строительную площадку заказанный объём в согласованное двухчасовое* </a:t>
            </a:r>
            <a:r>
              <a:rPr lang="en-US" sz="12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окн</a:t>
            </a:r>
            <a:r>
              <a:rPr lang="ru-RU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с полным комплектом документов и предупреждением при задержке более 30 минут, — чтобы бригада не простаивала.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9189720" y="2843784"/>
            <a:ext cx="18288" cy="1133856"/>
          </a:xfrm>
          <a:prstGeom prst="rect">
            <a:avLst/>
          </a:prstGeom>
          <a:solidFill>
            <a:srgbClr val="C9C6B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9418320" y="2825496"/>
            <a:ext cx="224028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Потребитель — внешний: бригада на объекте. Результат —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доставленная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партия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словия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окно, документы, предупреждение.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502920" y="5760720"/>
            <a:ext cx="11183112" cy="68580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1" name="Text 29"/>
          <p:cNvSpPr txBox="1"/>
          <p:nvPr/>
        </p:nvSpPr>
        <p:spPr>
          <a:xfrm>
            <a:off x="731520" y="5833872"/>
            <a:ext cx="10725912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ru-RU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</a:t>
            </a: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формулировок: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ни одна цель не повторяет название выхода («план», «подтверждённый заказ», «доставленная партия»), в каждой указаны условия создания результата (срок, согласованность, окно приёмки) и назван потребитель, который этот результат оценивает.  * — </a:t>
            </a:r>
            <a:r>
              <a:rPr lang="en-US" sz="12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допущение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0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B · ПРИОРИТЕТ 1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766060" y="155448"/>
            <a:ext cx="89227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SIPOC: сквозное планирование S&amp;OP (APQC PCF 4.1)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603504"/>
            <a:ext cx="111831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(гипотеза): ежемесячно давать заводам, снабжению и логистике один согласованный и ресурсно-обеспеченный план на 12 месяцев*, выдерживающий сезонный перепад спроса, — чтобы коммерческая дирекция подтверждала клиенту срок без запроса на заводы. Границы: от Триггера 1 (25-е число) до утверждённого плана и отчёта о точности прогноза.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619756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70632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87468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38344" y="1481328"/>
            <a:ext cx="2103120" cy="4663440"/>
          </a:xfrm>
          <a:prstGeom prst="rect">
            <a:avLst/>
          </a:prstGeom>
          <a:solidFill>
            <a:srgbClr val="FDF6F0"/>
          </a:solidFill>
          <a:ln w="12700">
            <a:solidFill>
              <a:srgbClr val="FDF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155180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06056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422892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73768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03504" y="1591056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76656" y="1618488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продажам и 12 региональных менеджеров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" y="2249189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76656" y="2276621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Ключевые клиенты: ТПС, ПИК, ЛСР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" y="2907322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76656" y="2934754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производству: 4 завода, 860 чел.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" y="3565455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76656" y="3592887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снабжению и логистике (145 чел.)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" y="4223587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76656" y="4251019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Гидрометцентр и календарь строительных работ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" y="4881720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76656" y="4909152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 сырья, тендерные площадки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" y="5539853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76656" y="5567285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ИТ: 1С, SAP ERP, собственная система прогноза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71216" y="1591056"/>
            <a:ext cx="1901952" cy="57583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2938866" y="1656616"/>
            <a:ext cx="1766651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1 · ГЛАВНЫЙ</a:t>
            </a:r>
            <a:r>
              <a:rPr lang="en-US" sz="8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История продаж за 24 месяца по клиентам и продуктам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71216" y="2249189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2938865" y="2276621"/>
            <a:ext cx="1766651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2</a:t>
            </a:r>
            <a:r>
              <a:rPr lang="en-US" sz="8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и календарь работ ТПС, ПИК, ЛСР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71216" y="2907322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3090672" y="2934754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4 заводов и план ремонтов линий *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71216" y="3565455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3090672" y="3592887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новых тендерах и аукционах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71216" y="4223587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3090672" y="4251019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 сырья и сроки поставщиков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71216" y="4881720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3090672" y="4909152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парка 85 ед. техники (факт 68 %)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71216" y="5539853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3090672" y="5567285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Отклонения прогноза прошлых периодов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38928" y="1591056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212080" y="1618488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Т1 · 4.1.2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Сбор данных и расчёт коэффициента сезонности Кс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48756" y="2114223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5138928" y="2246811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5212080" y="2274243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Т1 · 4.1.2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прогноза спроса на месяц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48756" y="2769979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5138928" y="2902567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5212080" y="2929999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Т1 · 4.1.3.5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оптимального запаса по продуктам и заводам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48756" y="3425734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5138928" y="3558322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 txBox="1"/>
          <p:nvPr/>
        </p:nvSpPr>
        <p:spPr>
          <a:xfrm>
            <a:off x="5212080" y="3585754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Т2 · 4.1.4.3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плана производства при отклонении &gt; 15 %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48756" y="4081490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5138928" y="4214078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212080" y="4241510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Т2 · 4.1.3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Расчёт корректировки закупок сырья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48756" y="4737245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138928" y="4869833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5212080" y="4897265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Т3 · 4.1.6.2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Ежедневный мониторинг уровня запасов (08:00)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48756" y="5393001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138928" y="5525589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5212080" y="5553021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Т1 · 4.1.2.7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Измерение точности прогноза и анализ отклонений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159105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 txBox="1"/>
          <p:nvPr/>
        </p:nvSpPr>
        <p:spPr>
          <a:xfrm>
            <a:off x="7626096" y="161848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спроса и оптимальный запас по заводам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406640" y="236430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 txBox="1"/>
          <p:nvPr/>
        </p:nvSpPr>
        <p:spPr>
          <a:xfrm>
            <a:off x="7626096" y="239174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Скорректированный план производства на неделю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406640" y="313756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7626096" y="316499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плана закупок сырья и график для поставщиков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406640" y="391081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 txBox="1"/>
          <p:nvPr/>
        </p:nvSpPr>
        <p:spPr>
          <a:xfrm>
            <a:off x="7626096" y="393824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Уведомления при запасе &lt; 80 % и &gt; 120 % от оптимума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06640" y="468406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 txBox="1"/>
          <p:nvPr/>
        </p:nvSpPr>
        <p:spPr>
          <a:xfrm>
            <a:off x="7626096" y="471150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«Аномалии запасов» генеральному директору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06640" y="545732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7626096" y="548475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 о точности прогноза (цель ≥ 85 %)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674352" y="159105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 txBox="1"/>
          <p:nvPr/>
        </p:nvSpPr>
        <p:spPr>
          <a:xfrm>
            <a:off x="9747504" y="161848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производству: план выпуска 4 заводов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674352" y="236430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 txBox="1"/>
          <p:nvPr/>
        </p:nvSpPr>
        <p:spPr>
          <a:xfrm>
            <a:off x="9747504" y="239174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снабжению: план закупок сырья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674352" y="313756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 txBox="1"/>
          <p:nvPr/>
        </p:nvSpPr>
        <p:spPr>
          <a:xfrm>
            <a:off x="9747504" y="316499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логистике: контроль уровня запасов (Т3)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674352" y="391081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 txBox="1"/>
          <p:nvPr/>
        </p:nvSpPr>
        <p:spPr>
          <a:xfrm>
            <a:off x="9747504" y="393824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продажам: стимулирование спроса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674352" y="468406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 txBox="1"/>
          <p:nvPr/>
        </p:nvSpPr>
        <p:spPr>
          <a:xfrm>
            <a:off x="9747504" y="471150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Генеральный директор: отчёт об аномалиях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674352" y="545732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 txBox="1"/>
          <p:nvPr/>
        </p:nvSpPr>
        <p:spPr>
          <a:xfrm>
            <a:off x="9747504" y="548475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 сырья: график закупок через снабжение *</a:t>
            </a:r>
            <a:endParaRPr lang="en-US" sz="900" dirty="0"/>
          </a:p>
        </p:txBody>
      </p:sp>
      <p:cxnSp>
        <p:nvCxnSpPr>
          <p:cNvPr id="97" name="Connector 96"/>
          <p:cNvCxnSpPr/>
          <p:nvPr/>
        </p:nvCxnSpPr>
        <p:spPr>
          <a:xfrm>
            <a:off x="2505456" y="1837943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505456" y="2496312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505456" y="3154679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718304" y="1837943"/>
            <a:ext cx="420624" cy="914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4718304" y="1847088"/>
            <a:ext cx="420624" cy="649224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>
            <a:off x="4718304" y="3154679"/>
            <a:ext cx="420624" cy="914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040880" y="1879092"/>
            <a:ext cx="420624" cy="626364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040880" y="2651760"/>
            <a:ext cx="420624" cy="1170432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40880" y="3424427"/>
            <a:ext cx="420624" cy="1056133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53728" y="1879092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9253728" y="1879092"/>
            <a:ext cx="420624" cy="772668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253728" y="2651760"/>
            <a:ext cx="420624" cy="772667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25328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3822191" y="6254496"/>
            <a:ext cx="6803137" cy="0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822191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02920" y="6291072"/>
            <a:ext cx="1117396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i="1" dirty="0">
                <a:solidFill>
                  <a:srgbClr val="5961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Пунктир — обратная связь: факт продаж и ошибка прогноза возвращаются во вход следующего цикла. Т1-Т3 — триггеры регламента, 4.1.x — операции APQC PCF (слайд 6). * — допущение команды.</a:t>
            </a:r>
            <a:endParaRPr sz="1100" i="1" dirty="0">
              <a:solidFill>
                <a:srgbClr val="59616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1 · RASCI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491740" y="155448"/>
            <a:ext cx="91970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RASCI: сквозное планирование S&amp;OP (4.1)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Развёрнутый вариант матрицы RACI регламента ЛОГ-15/2024 (раздел 7 кейса): шесть действий регламента разложены на семь этапов, состав ролей сохранён и дополнен уровнем утверждения</a:t>
            </a:r>
            <a:endParaRPr lang="en-US" sz="11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35247459"/>
              </p:ext>
            </p:extLst>
          </p:nvPr>
        </p:nvGraphicFramePr>
        <p:xfrm>
          <a:off x="502920" y="1170432"/>
          <a:ext cx="11182199" cy="4507992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/ этап процесса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Сбор данных, расчёт Кс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Прогноз спроса на месяц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Расчёт оптимального запаса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Корректировка плана произв.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Корректировка закупок сырья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Мониторинг запасов 08:00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Точность прогноза и анализ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Генеральный директор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Операционный директор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планированию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 логистики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 прогнозирования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продажам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Коммерческий директор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производству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снабжению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логистике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Начальник склада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ИТ-служба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46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Ключевые клиенты (ТПС, ПИК, ЛСР) *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4444" y="5820156"/>
            <a:ext cx="11183112" cy="86868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3044" y="5875020"/>
            <a:ext cx="1072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выполняет   ·   </a:t>
            </a:r>
            <a:r>
              <a:rPr lang="en-US" sz="11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принимает результат и отвечает за него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помогает исполнителю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консультирует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информируется   ·   </a:t>
            </a: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гипотеза-дополнение: в RACI регламента этой роли нет.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063" y="6185916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показала матрица:  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после добавления уровня утверждения на семи этапах оказалось три разных A (директор по планированию, операционный директор, директор по логистике) — сквозного владельца баланса спроса и запасов нет.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B · ПРИОРИТЕТ 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766060" y="155448"/>
            <a:ext cx="89227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SIPOC: доставка продукции клиентам (APQC PCF 4.4.4)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(гипотеза): привозить на строительную площадку заказанный объём в согласованное двухчасовое* окно, с полным комплектом документов и предупреждением при задержке более 30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минут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Границы: от готовой партии на складе завода до подписанных документов о приёмке на объекте.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619756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70632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87468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38344" y="1481328"/>
            <a:ext cx="2103120" cy="4663440"/>
          </a:xfrm>
          <a:prstGeom prst="rect">
            <a:avLst/>
          </a:prstGeom>
          <a:solidFill>
            <a:srgbClr val="FDF6F0"/>
          </a:solidFill>
          <a:ln w="12700">
            <a:solidFill>
              <a:srgbClr val="FDF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155180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06056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422892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73768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03504" y="1591056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76656" y="1618488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Начальники заводов и кладовщики: готовая партия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" y="2249189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76656" y="2276621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Планирование отгрузок (18 чел.) и планировщик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" y="2907322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03504" y="2934754"/>
            <a:ext cx="1901952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Диспетчерская служба (14 чел.) и транспортное управление (45 чел.)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" y="3565455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76656" y="3592887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Служба качества: паспорт качества партии *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" y="4223587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76656" y="4251019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Яндекс.Пробки и Гидрометцентр (Триггер 4)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" y="4881720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76656" y="4909152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Клиент: график работы строительной площадки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" y="5539853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76656" y="5567285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Системы управления и мониторинга транспорта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71216" y="1591056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3090672" y="1618488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Готовая партия и подтверждённый заказ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71216" y="2249189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3090672" y="2276621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Отгрузочные документы кладовщика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71216" y="2907322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3090672" y="2934754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Свободные машины парка 85 ед. (загрузка 68 %)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71216" y="3565455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3090672" y="3592887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График работы площадки и окно приёмки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71216" y="4223587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3090672" y="4251019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пробках и погоде на маршруте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71216" y="4881720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3090672" y="4909152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Паспорт качества партии *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71216" y="5539853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3090672" y="5567285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Сигнал о задержке рейса более 30 минут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38928" y="1591056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212080" y="1618488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Т4 · 4.4.4.1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наличия продукции и расчёт времени отгрузки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48756" y="2114223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5138928" y="2246811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5212080" y="2274243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Резервирование транспорта за 4 часа до отгрузки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48756" y="2769979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5138928" y="2902567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5212080" y="2929999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Назначение машины, водителя и маршрутного листа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48756" y="3425734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5138928" y="3558322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 txBox="1"/>
          <p:nvPr/>
        </p:nvSpPr>
        <p:spPr>
          <a:xfrm>
            <a:off x="5212080" y="3585754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4.4.3 · 4.4.4.4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Погрузка и проверка документов — 38 мин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48756" y="4081490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5138928" y="4214078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212080" y="4241510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4.4.4.1 · 4.4.4.2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Перевозка и мониторинг рейса — 2,8 часа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48756" y="4737245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138928" y="4869833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5212080" y="4897265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Т5 · 4.4.4.2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клиента при задержке более 30 минут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48756" y="5393001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138928" y="5525589"/>
            <a:ext cx="1901952" cy="509451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5212080" y="5553021"/>
            <a:ext cx="1755648" cy="45458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4.4.4.2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Приёмка на объекте и анализ причин отклонений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7406640" y="159105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Text 72"/>
          <p:cNvSpPr txBox="1"/>
          <p:nvPr/>
        </p:nvSpPr>
        <p:spPr>
          <a:xfrm>
            <a:off x="7626096" y="161848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Партия, доставленная на объект (OTIF 78,4 % → 92 %)</a:t>
            </a:r>
            <a:endParaRPr lang="en-US" sz="900" dirty="0"/>
          </a:p>
        </p:txBody>
      </p:sp>
      <p:sp>
        <p:nvSpPr>
          <p:cNvPr id="75" name="Shape 73"/>
          <p:cNvSpPr/>
          <p:nvPr/>
        </p:nvSpPr>
        <p:spPr>
          <a:xfrm>
            <a:off x="7406640" y="236430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6" name="Text 74"/>
          <p:cNvSpPr txBox="1"/>
          <p:nvPr/>
        </p:nvSpPr>
        <p:spPr>
          <a:xfrm>
            <a:off x="7626096" y="239174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Подписанные перевозочные документы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7406640" y="313756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8" name="Text 76"/>
          <p:cNvSpPr txBox="1"/>
          <p:nvPr/>
        </p:nvSpPr>
        <p:spPr>
          <a:xfrm>
            <a:off x="7626096" y="316499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Уведомление клиенту с новым временем и компенсацией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7406640" y="391081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0" name="Text 78"/>
          <p:cNvSpPr txBox="1"/>
          <p:nvPr/>
        </p:nvSpPr>
        <p:spPr>
          <a:xfrm>
            <a:off x="7626096" y="393824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трекинга рейса в реальном времени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406640" y="468406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2" name="Text 80"/>
          <p:cNvSpPr txBox="1"/>
          <p:nvPr/>
        </p:nvSpPr>
        <p:spPr>
          <a:xfrm>
            <a:off x="7626096" y="471150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Претензия или акт за простой техники и рабочих</a:t>
            </a:r>
            <a:endParaRPr lang="en-US" sz="1000" dirty="0"/>
          </a:p>
        </p:txBody>
      </p:sp>
      <p:sp>
        <p:nvSpPr>
          <p:cNvPr id="83" name="Shape 81"/>
          <p:cNvSpPr/>
          <p:nvPr/>
        </p:nvSpPr>
        <p:spPr>
          <a:xfrm>
            <a:off x="7406640" y="545732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4" name="Text 82"/>
          <p:cNvSpPr txBox="1"/>
          <p:nvPr/>
        </p:nvSpPr>
        <p:spPr>
          <a:xfrm>
            <a:off x="7626096" y="548475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Отчёт: OTIF, ₽/тонна, % повреждённой продукции</a:t>
            </a:r>
            <a:endParaRPr lang="en-US" sz="1000" dirty="0"/>
          </a:p>
        </p:txBody>
      </p:sp>
      <p:sp>
        <p:nvSpPr>
          <p:cNvPr id="85" name="Shape 83"/>
          <p:cNvSpPr/>
          <p:nvPr/>
        </p:nvSpPr>
        <p:spPr>
          <a:xfrm>
            <a:off x="9674352" y="159105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6" name="Text 84"/>
          <p:cNvSpPr txBox="1"/>
          <p:nvPr/>
        </p:nvSpPr>
        <p:spPr>
          <a:xfrm>
            <a:off x="9747504" y="161848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Бригада и прораб на строительной площадке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9674352" y="236430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8" name="Text 86"/>
          <p:cNvSpPr txBox="1"/>
          <p:nvPr/>
        </p:nvSpPr>
        <p:spPr>
          <a:xfrm>
            <a:off x="9747504" y="239174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Застройщик: служба снабжения и бухгалтерия *</a:t>
            </a:r>
            <a:endParaRPr lang="en-US" sz="900" dirty="0"/>
          </a:p>
        </p:txBody>
      </p:sp>
      <p:sp>
        <p:nvSpPr>
          <p:cNvPr id="89" name="Shape 87"/>
          <p:cNvSpPr/>
          <p:nvPr/>
        </p:nvSpPr>
        <p:spPr>
          <a:xfrm>
            <a:off x="9674352" y="313756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0" name="Text 88"/>
          <p:cNvSpPr txBox="1"/>
          <p:nvPr/>
        </p:nvSpPr>
        <p:spPr>
          <a:xfrm>
            <a:off x="9747504" y="316499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логистике: OTIF и издержки на тонну</a:t>
            </a:r>
            <a:endParaRPr lang="en-US" sz="900" dirty="0"/>
          </a:p>
        </p:txBody>
      </p:sp>
      <p:sp>
        <p:nvSpPr>
          <p:cNvPr id="91" name="Shape 89"/>
          <p:cNvSpPr/>
          <p:nvPr/>
        </p:nvSpPr>
        <p:spPr>
          <a:xfrm>
            <a:off x="9674352" y="391081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2" name="Text 90"/>
          <p:cNvSpPr txBox="1"/>
          <p:nvPr/>
        </p:nvSpPr>
        <p:spPr>
          <a:xfrm>
            <a:off x="9747504" y="393824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 логистики: факт для следующего прогноза</a:t>
            </a:r>
            <a:endParaRPr lang="en-US" sz="900" dirty="0"/>
          </a:p>
        </p:txBody>
      </p:sp>
      <p:sp>
        <p:nvSpPr>
          <p:cNvPr id="93" name="Shape 91"/>
          <p:cNvSpPr/>
          <p:nvPr/>
        </p:nvSpPr>
        <p:spPr>
          <a:xfrm>
            <a:off x="9674352" y="468406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4" name="Text 92"/>
          <p:cNvSpPr txBox="1"/>
          <p:nvPr/>
        </p:nvSpPr>
        <p:spPr>
          <a:xfrm>
            <a:off x="9747504" y="471150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продажам: статус заказов клиентов</a:t>
            </a:r>
            <a:endParaRPr lang="en-US" sz="900" dirty="0"/>
          </a:p>
        </p:txBody>
      </p:sp>
      <p:sp>
        <p:nvSpPr>
          <p:cNvPr id="95" name="Shape 93"/>
          <p:cNvSpPr/>
          <p:nvPr/>
        </p:nvSpPr>
        <p:spPr>
          <a:xfrm>
            <a:off x="9674352" y="545732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6" name="Text 94"/>
          <p:cNvSpPr txBox="1"/>
          <p:nvPr/>
        </p:nvSpPr>
        <p:spPr>
          <a:xfrm>
            <a:off x="9747504" y="548475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 транспорта: загрузка парка и повреждения</a:t>
            </a:r>
            <a:endParaRPr lang="en-US" sz="900" dirty="0"/>
          </a:p>
        </p:txBody>
      </p:sp>
      <p:cxnSp>
        <p:nvCxnSpPr>
          <p:cNvPr id="97" name="Connector 96"/>
          <p:cNvCxnSpPr/>
          <p:nvPr/>
        </p:nvCxnSpPr>
        <p:spPr>
          <a:xfrm>
            <a:off x="2505456" y="1837943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Connector 97"/>
          <p:cNvCxnSpPr/>
          <p:nvPr/>
        </p:nvCxnSpPr>
        <p:spPr>
          <a:xfrm>
            <a:off x="2505456" y="1837943"/>
            <a:ext cx="438912" cy="658369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Connector 98"/>
          <p:cNvCxnSpPr/>
          <p:nvPr/>
        </p:nvCxnSpPr>
        <p:spPr>
          <a:xfrm>
            <a:off x="2505456" y="3154679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718304" y="1837943"/>
            <a:ext cx="420624" cy="914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718304" y="2496312"/>
            <a:ext cx="420624" cy="132588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4718304" y="2505456"/>
            <a:ext cx="420624" cy="649223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7040880" y="1879092"/>
            <a:ext cx="420624" cy="2601468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 flipV="1">
            <a:off x="7040880" y="2651760"/>
            <a:ext cx="420624" cy="1170432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 flipV="1">
            <a:off x="7040880" y="3424427"/>
            <a:ext cx="420624" cy="1714501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9253728" y="1879092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9253728" y="2651760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9253728" y="1879092"/>
            <a:ext cx="420624" cy="154533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10625328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 flipH="1">
            <a:off x="3822191" y="6254496"/>
            <a:ext cx="6803137" cy="0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3822191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/>
          <p:cNvSpPr txBox="1"/>
          <p:nvPr/>
        </p:nvSpPr>
        <p:spPr>
          <a:xfrm>
            <a:off x="502920" y="6291072"/>
            <a:ext cx="1117396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i="1" dirty="0">
                <a:solidFill>
                  <a:srgbClr val="5961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Пунктир — обратная связь: время разгрузки и причины отклонений возвращаются диспетчеру и заводам. Т4, Т5 — триггеры регламента, 4.4.4.x — операции APQC PCF (слайд 9); погрузка — операция 4.4.3 на входной границе. * — допущение команды.</a:t>
            </a:r>
            <a:endParaRPr sz="1100" i="1" dirty="0">
              <a:solidFill>
                <a:srgbClr val="59616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2 · RASCI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491740" y="155448"/>
            <a:ext cx="91970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RASCI: доставка продукции клиентам (4.4.4)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Роли взяты из оргструктуры и метрик уровня 3 кейса: начальник склада, начальник транспорта, диспетчер, аналитик логистики. На этапе приёмки роль A принадлежит клиенту — единственный случай, когда результат принимает сторона вне холдинга</a:t>
            </a:r>
            <a:endParaRPr lang="en-US" sz="11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5469378"/>
              </p:ext>
            </p:extLst>
          </p:nvPr>
        </p:nvGraphicFramePr>
        <p:xfrm>
          <a:off x="502920" y="1170432"/>
          <a:ext cx="11182199" cy="4035552"/>
        </p:xfrm>
        <a:graphic>
          <a:graphicData uri="http://schemas.openxmlformats.org/drawingml/2006/table">
            <a:tbl>
              <a:tblPr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277417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Роль / этап процесса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Расчёт времени отгрузки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Резервирование транспорта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Назначение машины и маршрута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Погрузка и документы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Перевозка и мониторинг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Уведомление о задержке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Приёмка и анализ причин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Операционный директор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логистике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Диспетчер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Начальник транспорта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Водитель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Начальник склада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Начальник завода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Система управления транспортом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Директор по качеству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Менеджер по продажам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Аналитик логистики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 (прораб на объекте)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486400"/>
            <a:ext cx="11183112" cy="86868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1520" y="5541264"/>
            <a:ext cx="1072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выполняет   ·   </a:t>
            </a:r>
            <a:r>
              <a:rPr lang="en-US" sz="11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принимает результат и отвечает за него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помогает исполнителю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консультирует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информируется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797296"/>
            <a:ext cx="1072591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35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показала матрица:  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директор по логистике — A на пяти этапах, но не управляет входом процесса: о готовности партии диспетчер узнаёт через 16,5 часа (16:30 → 09:00).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208026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20802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B · ПРИОРИТЕТ 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766060" y="155448"/>
            <a:ext cx="892271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SIPOC: согласование графика отгрузки (APQC PCF 3.5.4)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Цель (гипотеза): давать застройщику проверенный по мощностям, сырью и транспорту срок отгрузки не позднее второго рабочего дня после заявки и не пересматривать его, — чтобы прораб планировал работы по нашей дате. Границы: от заявки до подтверждения графика; «как есть» — раздел 5 кейса (14 этапов, 9,0 раб. дня).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ПОСТАВЩИКИ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2619756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Shape 8"/>
          <p:cNvSpPr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2770632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ВХОДЫ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70632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Shape 11"/>
          <p:cNvSpPr/>
          <p:nvPr/>
        </p:nvSpPr>
        <p:spPr>
          <a:xfrm>
            <a:off x="4887468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Shape 12"/>
          <p:cNvSpPr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5" name="Text 13"/>
          <p:cNvSpPr txBox="1"/>
          <p:nvPr/>
        </p:nvSpPr>
        <p:spPr>
          <a:xfrm>
            <a:off x="5038344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ПРОЦЕСС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038344" y="1481328"/>
            <a:ext cx="2103120" cy="4663440"/>
          </a:xfrm>
          <a:prstGeom prst="rect">
            <a:avLst/>
          </a:prstGeom>
          <a:solidFill>
            <a:srgbClr val="FDF6F0"/>
          </a:solidFill>
          <a:ln w="12700">
            <a:solidFill>
              <a:srgbClr val="FDF6F0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Shape 15"/>
          <p:cNvSpPr/>
          <p:nvPr/>
        </p:nvSpPr>
        <p:spPr>
          <a:xfrm>
            <a:off x="7155180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8" name="Shape 16"/>
          <p:cNvSpPr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06056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ВЫХОДЫ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06056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1" name="Shape 19"/>
          <p:cNvSpPr/>
          <p:nvPr/>
        </p:nvSpPr>
        <p:spPr>
          <a:xfrm>
            <a:off x="9422892" y="1161288"/>
            <a:ext cx="137160" cy="128016"/>
          </a:xfrm>
          <a:prstGeom prst="rightArrow">
            <a:avLst/>
          </a:prstGeom>
          <a:solidFill>
            <a:srgbClr val="8A9096"/>
          </a:solidFill>
          <a:ln w="12700">
            <a:solidFill>
              <a:srgbClr val="8A909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2" name="Shape 20"/>
          <p:cNvSpPr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9573768" y="1024128"/>
            <a:ext cx="21031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   </a:t>
            </a:r>
            <a:r>
              <a:rPr lang="en-US" sz="10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ПОТРЕБИТЕЛИ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573768" y="1481328"/>
            <a:ext cx="2103120" cy="46634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5" name="Shape 23"/>
          <p:cNvSpPr/>
          <p:nvPr/>
        </p:nvSpPr>
        <p:spPr>
          <a:xfrm>
            <a:off x="603504" y="1591056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76656" y="1618488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Клиент-застройщик (пример кейса — «СтройГрад»)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603504" y="2249189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8" name="Text 26"/>
          <p:cNvSpPr txBox="1"/>
          <p:nvPr/>
        </p:nvSpPr>
        <p:spPr>
          <a:xfrm>
            <a:off x="676656" y="2276621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Региональный менеджер и руководитель отдела продаж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03504" y="2907322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 28"/>
          <p:cNvSpPr txBox="1"/>
          <p:nvPr/>
        </p:nvSpPr>
        <p:spPr>
          <a:xfrm>
            <a:off x="676656" y="2934754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 оперативного планирования (18 чел.)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3504" y="3565455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76656" y="3592887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Начальники 4 заводов: загрузка и мощности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03504" y="4223587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4" name="Text 32"/>
          <p:cNvSpPr txBox="1"/>
          <p:nvPr/>
        </p:nvSpPr>
        <p:spPr>
          <a:xfrm>
            <a:off x="676656" y="4251019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Снабжение и 4 поставщика сырья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03504" y="4881720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6" name="Text 34"/>
          <p:cNvSpPr txBox="1"/>
          <p:nvPr/>
        </p:nvSpPr>
        <p:spPr>
          <a:xfrm>
            <a:off x="676656" y="4909152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Диспетчерская служба (14 чел.), транспорт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603504" y="5539853"/>
            <a:ext cx="1901952" cy="495187"/>
          </a:xfrm>
          <a:prstGeom prst="roundRect">
            <a:avLst>
              <a:gd name="adj" fmla="val 1477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8" name="Text 36"/>
          <p:cNvSpPr txBox="1"/>
          <p:nvPr/>
        </p:nvSpPr>
        <p:spPr>
          <a:xfrm>
            <a:off x="676656" y="5567285"/>
            <a:ext cx="175564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Финансовая и юридическая службы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2871216" y="1591056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0" name="Text 38"/>
          <p:cNvSpPr txBox="1"/>
          <p:nvPr/>
        </p:nvSpPr>
        <p:spPr>
          <a:xfrm>
            <a:off x="3028448" y="1618488"/>
            <a:ext cx="1587488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клиента: объём, номенклатура, объект, срок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871216" y="2249189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2" name="Text 40"/>
          <p:cNvSpPr txBox="1"/>
          <p:nvPr/>
        </p:nvSpPr>
        <p:spPr>
          <a:xfrm>
            <a:off x="3090672" y="2276621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заводов и наличие сырья на период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2871216" y="2907322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4" name="Text 42"/>
          <p:cNvSpPr txBox="1"/>
          <p:nvPr/>
        </p:nvSpPr>
        <p:spPr>
          <a:xfrm>
            <a:off x="3090672" y="2934754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Договор, спецификация, коммерческие условия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2871216" y="3565455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4"/>
          <p:cNvSpPr txBox="1"/>
          <p:nvPr/>
        </p:nvSpPr>
        <p:spPr>
          <a:xfrm>
            <a:off x="3090672" y="3592887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Прогноз погоды на период поставки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871216" y="4223587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8" name="Text 46"/>
          <p:cNvSpPr txBox="1"/>
          <p:nvPr/>
        </p:nvSpPr>
        <p:spPr>
          <a:xfrm>
            <a:off x="3090672" y="4251019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Загрузка транспорта и свободные машины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2871216" y="4881720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0" name="Text 48"/>
          <p:cNvSpPr txBox="1"/>
          <p:nvPr/>
        </p:nvSpPr>
        <p:spPr>
          <a:xfrm>
            <a:off x="3090672" y="4909152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о себестоимости и марже заказа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2871216" y="5539853"/>
            <a:ext cx="1901952" cy="495187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2" name="Text 50"/>
          <p:cNvSpPr txBox="1"/>
          <p:nvPr/>
        </p:nvSpPr>
        <p:spPr>
          <a:xfrm>
            <a:off x="3090672" y="5567285"/>
            <a:ext cx="1463040" cy="4403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Корректировки клиента по графику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5138928" y="1591056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4" name="Text 52"/>
          <p:cNvSpPr txBox="1"/>
          <p:nvPr/>
        </p:nvSpPr>
        <p:spPr>
          <a:xfrm>
            <a:off x="5212080" y="1618488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3.5.4.1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Формирование запроса на отгрузку — 25 мин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6048756" y="2032254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6" name="Shape 54"/>
          <p:cNvSpPr/>
          <p:nvPr/>
        </p:nvSpPr>
        <p:spPr>
          <a:xfrm>
            <a:off x="5138928" y="2164842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7" name="Text 55"/>
          <p:cNvSpPr txBox="1"/>
          <p:nvPr/>
        </p:nvSpPr>
        <p:spPr>
          <a:xfrm>
            <a:off x="5212080" y="2192274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3.5.4.1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Согласование коммерческих условий — 2,3 дня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6048756" y="2606040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59" name="Shape 57"/>
          <p:cNvSpPr/>
          <p:nvPr/>
        </p:nvSpPr>
        <p:spPr>
          <a:xfrm>
            <a:off x="5138928" y="2738628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0" name="Text 58"/>
          <p:cNvSpPr txBox="1"/>
          <p:nvPr/>
        </p:nvSpPr>
        <p:spPr>
          <a:xfrm>
            <a:off x="5212080" y="2766060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3–4 · 3.5.4.3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возможности производства — 3,3 дня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6048756" y="3179826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2" name="Shape 60"/>
          <p:cNvSpPr/>
          <p:nvPr/>
        </p:nvSpPr>
        <p:spPr>
          <a:xfrm>
            <a:off x="5138928" y="3312414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3" name="Text 61"/>
          <p:cNvSpPr txBox="1"/>
          <p:nvPr/>
        </p:nvSpPr>
        <p:spPr>
          <a:xfrm>
            <a:off x="5212080" y="3339846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3.5.4.1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Уточнение спецификации у клиента — 1,7 дня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6048756" y="3753612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5" name="Shape 63"/>
          <p:cNvSpPr/>
          <p:nvPr/>
        </p:nvSpPr>
        <p:spPr>
          <a:xfrm>
            <a:off x="5138928" y="3886200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6" name="Text 64"/>
          <p:cNvSpPr txBox="1"/>
          <p:nvPr/>
        </p:nvSpPr>
        <p:spPr>
          <a:xfrm>
            <a:off x="5212080" y="3913632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6–8 · 3.5.4.4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плана и себестоимость — 2,8 дня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048756" y="4327398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8" name="Shape 66"/>
          <p:cNvSpPr/>
          <p:nvPr/>
        </p:nvSpPr>
        <p:spPr>
          <a:xfrm>
            <a:off x="5138928" y="4459986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9" name="Text 67"/>
          <p:cNvSpPr txBox="1"/>
          <p:nvPr/>
        </p:nvSpPr>
        <p:spPr>
          <a:xfrm>
            <a:off x="5212080" y="4487418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9–11 · 3.5.4.3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Проверка сырья, транспорта и договора — 4,5 дня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048756" y="4901184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1" name="Shape 69"/>
          <p:cNvSpPr/>
          <p:nvPr/>
        </p:nvSpPr>
        <p:spPr>
          <a:xfrm>
            <a:off x="5138928" y="5033772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2" name="Text 70"/>
          <p:cNvSpPr txBox="1"/>
          <p:nvPr/>
        </p:nvSpPr>
        <p:spPr>
          <a:xfrm>
            <a:off x="5212080" y="5061204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12–13 · 3.5.4.1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Утверждение и информирование клиента — 2,5 дня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048756" y="5474970"/>
            <a:ext cx="82296" cy="118872"/>
          </a:xfrm>
          <a:prstGeom prst="downArrow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4" name="Shape 72"/>
          <p:cNvSpPr/>
          <p:nvPr/>
        </p:nvSpPr>
        <p:spPr>
          <a:xfrm>
            <a:off x="5138928" y="5607558"/>
            <a:ext cx="1901952" cy="427482"/>
          </a:xfrm>
          <a:prstGeom prst="rect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5" name="Text 73"/>
          <p:cNvSpPr txBox="1"/>
          <p:nvPr/>
        </p:nvSpPr>
        <p:spPr>
          <a:xfrm>
            <a:off x="5212080" y="5634990"/>
            <a:ext cx="1755648" cy="37261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3.5.4.7  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Корректировка клиентом → возврат на этап 3 — 2,8 дня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7406640" y="159105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7" name="Text 75"/>
          <p:cNvSpPr txBox="1"/>
          <p:nvPr/>
        </p:nvSpPr>
        <p:spPr>
          <a:xfrm>
            <a:off x="7626096" y="161848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1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Согласованный график отгрузки — 9,0 раб. дней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7406640" y="236430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9" name="Text 77"/>
          <p:cNvSpPr txBox="1"/>
          <p:nvPr/>
        </p:nvSpPr>
        <p:spPr>
          <a:xfrm>
            <a:off x="7626096" y="239174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2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Скорректированный план производства завода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7406640" y="313756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1" name="Text 79"/>
          <p:cNvSpPr txBox="1"/>
          <p:nvPr/>
        </p:nvSpPr>
        <p:spPr>
          <a:xfrm>
            <a:off x="7626096" y="316499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 3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Коммерческое предложение и уточнённая спецификация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7406640" y="3910816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3" name="Text 81"/>
          <p:cNvSpPr txBox="1"/>
          <p:nvPr/>
        </p:nvSpPr>
        <p:spPr>
          <a:xfrm>
            <a:off x="7626096" y="3938248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Заявка на закупку недостающего сырья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7406640" y="4684069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5" name="Text 83"/>
          <p:cNvSpPr txBox="1"/>
          <p:nvPr/>
        </p:nvSpPr>
        <p:spPr>
          <a:xfrm>
            <a:off x="7626096" y="4711501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Резерв транспорта и заявка в диспетчерскую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7406640" y="5457322"/>
            <a:ext cx="1901952" cy="577718"/>
          </a:xfrm>
          <a:prstGeom prst="parallelogram">
            <a:avLst/>
          </a:prstGeom>
          <a:solidFill>
            <a:srgbClr val="FFFFFF"/>
          </a:solidFill>
          <a:ln w="15875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7" name="Text 85"/>
          <p:cNvSpPr txBox="1"/>
          <p:nvPr/>
        </p:nvSpPr>
        <p:spPr>
          <a:xfrm>
            <a:off x="7626096" y="5484754"/>
            <a:ext cx="1463040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Отказ или перенос срока (38 % запросов)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9674352" y="159105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9" name="Text 87"/>
          <p:cNvSpPr txBox="1"/>
          <p:nvPr/>
        </p:nvSpPr>
        <p:spPr>
          <a:xfrm>
            <a:off x="9747504" y="161848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ВНЕШНИЙ · ГЛАВНЫЙ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Клиент-застройщик: дата, под которую он планирует работы</a:t>
            </a:r>
            <a:endParaRPr lang="en-US" sz="900" dirty="0"/>
          </a:p>
        </p:txBody>
      </p:sp>
      <p:sp>
        <p:nvSpPr>
          <p:cNvPr id="90" name="Shape 88"/>
          <p:cNvSpPr/>
          <p:nvPr/>
        </p:nvSpPr>
        <p:spPr>
          <a:xfrm>
            <a:off x="9674352" y="236430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1" name="Text 89"/>
          <p:cNvSpPr txBox="1"/>
          <p:nvPr/>
        </p:nvSpPr>
        <p:spPr>
          <a:xfrm>
            <a:off x="9747504" y="239174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Начальники заводов: что и когда производить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9674352" y="313756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3" name="Text 91"/>
          <p:cNvSpPr txBox="1"/>
          <p:nvPr/>
        </p:nvSpPr>
        <p:spPr>
          <a:xfrm>
            <a:off x="9747504" y="316499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Снабжение: что и когда закупать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9674352" y="3910816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5" name="Text 93"/>
          <p:cNvSpPr txBox="1"/>
          <p:nvPr/>
        </p:nvSpPr>
        <p:spPr>
          <a:xfrm>
            <a:off x="9747504" y="3938248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Диспетчерская служба: когда подать транспорт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9674352" y="4684069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7" name="Text 95"/>
          <p:cNvSpPr txBox="1"/>
          <p:nvPr/>
        </p:nvSpPr>
        <p:spPr>
          <a:xfrm>
            <a:off x="9747504" y="4711501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 и юристы: себестоимость и договор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9674352" y="5457322"/>
            <a:ext cx="1901952" cy="577718"/>
          </a:xfrm>
          <a:prstGeom prst="roundRect">
            <a:avLst>
              <a:gd name="adj" fmla="val 12662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9" name="Text 97"/>
          <p:cNvSpPr txBox="1"/>
          <p:nvPr/>
        </p:nvSpPr>
        <p:spPr>
          <a:xfrm>
            <a:off x="9747504" y="5484754"/>
            <a:ext cx="1755648" cy="5228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100"/>
              </a:lnSpc>
              <a:buNone/>
            </a:pPr>
            <a:r>
              <a:rPr lang="en-US" sz="900" b="1" kern="0" spc="6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ВНУТРЕННИЙ
</a:t>
            </a:r>
            <a:r>
              <a:rPr lang="en-US" sz="10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Планировщик: вход следующего цикла планирования</a:t>
            </a:r>
            <a:endParaRPr lang="en-US" sz="900" dirty="0"/>
          </a:p>
        </p:txBody>
      </p:sp>
      <p:cxnSp>
        <p:nvCxnSpPr>
          <p:cNvPr id="100" name="Connector 99"/>
          <p:cNvCxnSpPr/>
          <p:nvPr/>
        </p:nvCxnSpPr>
        <p:spPr>
          <a:xfrm>
            <a:off x="2505456" y="1837943"/>
            <a:ext cx="438912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 flipV="1">
            <a:off x="2505456" y="2496312"/>
            <a:ext cx="438912" cy="1316736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2" name="Connector 101"/>
          <p:cNvCxnSpPr/>
          <p:nvPr/>
        </p:nvCxnSpPr>
        <p:spPr>
          <a:xfrm flipV="1">
            <a:off x="2505456" y="3154679"/>
            <a:ext cx="438912" cy="2633473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3" name="Connector 102"/>
          <p:cNvCxnSpPr/>
          <p:nvPr/>
        </p:nvCxnSpPr>
        <p:spPr>
          <a:xfrm flipV="1">
            <a:off x="4718304" y="1805940"/>
            <a:ext cx="420624" cy="32003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4" name="Connector 103"/>
          <p:cNvCxnSpPr/>
          <p:nvPr/>
        </p:nvCxnSpPr>
        <p:spPr>
          <a:xfrm>
            <a:off x="4718304" y="2496312"/>
            <a:ext cx="420624" cy="45628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5" name="Connector 104"/>
          <p:cNvCxnSpPr/>
          <p:nvPr/>
        </p:nvCxnSpPr>
        <p:spPr>
          <a:xfrm>
            <a:off x="4718304" y="3154679"/>
            <a:ext cx="420624" cy="151790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 flipV="1">
            <a:off x="7040880" y="1879092"/>
            <a:ext cx="420624" cy="336682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 flipV="1">
            <a:off x="7040880" y="2651760"/>
            <a:ext cx="420624" cy="144749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8" name="Connector 107"/>
          <p:cNvCxnSpPr/>
          <p:nvPr/>
        </p:nvCxnSpPr>
        <p:spPr>
          <a:xfrm flipV="1">
            <a:off x="7040880" y="3424427"/>
            <a:ext cx="420624" cy="101499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Connector 108"/>
          <p:cNvCxnSpPr/>
          <p:nvPr/>
        </p:nvCxnSpPr>
        <p:spPr>
          <a:xfrm>
            <a:off x="9253728" y="1879092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0" name="Connector 109"/>
          <p:cNvCxnSpPr/>
          <p:nvPr/>
        </p:nvCxnSpPr>
        <p:spPr>
          <a:xfrm>
            <a:off x="9253728" y="2651760"/>
            <a:ext cx="420624" cy="0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1" name="Connector 110"/>
          <p:cNvCxnSpPr/>
          <p:nvPr/>
        </p:nvCxnSpPr>
        <p:spPr>
          <a:xfrm flipV="1">
            <a:off x="9253728" y="1879092"/>
            <a:ext cx="420624" cy="1545335"/>
          </a:xfrm>
          <a:prstGeom prst="line">
            <a:avLst/>
          </a:prstGeom>
          <a:ln w="19050">
            <a:solidFill>
              <a:srgbClr val="D2691E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10625328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 flipH="1">
            <a:off x="3822191" y="6254496"/>
            <a:ext cx="6803137" cy="0"/>
          </a:xfrm>
          <a:prstGeom prst="line">
            <a:avLst/>
          </a:prstGeom>
          <a:ln w="15875">
            <a:solidFill>
              <a:srgbClr val="5A6169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Connector 113"/>
          <p:cNvCxnSpPr/>
          <p:nvPr/>
        </p:nvCxnSpPr>
        <p:spPr>
          <a:xfrm flipV="1">
            <a:off x="3822191" y="6144768"/>
            <a:ext cx="0" cy="109728"/>
          </a:xfrm>
          <a:prstGeom prst="line">
            <a:avLst/>
          </a:prstGeom>
          <a:ln w="15875">
            <a:solidFill>
              <a:srgbClr val="5A61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5" name="TextBox 114"/>
          <p:cNvSpPr txBox="1"/>
          <p:nvPr/>
        </p:nvSpPr>
        <p:spPr>
          <a:xfrm>
            <a:off x="502920" y="6291072"/>
            <a:ext cx="11173968" cy="33855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r>
              <a:rPr lang="ru-RU" sz="1100" i="1" dirty="0">
                <a:solidFill>
                  <a:srgbClr val="596169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Пунктир — обратная связь: корректировки клиента должны возвращаться во вход, а не запускать этапы 3–14 заново. У этапа: номер по разделу 5 кейса · операция APQC PCF 3.5.4 (слайд 10). Длительность группы — сумма её этапов; сумма всех 14 ≈ 20 дней при итоге кейса 9,0, т. е. часть идёт параллельно.</a:t>
            </a:r>
            <a:endParaRPr sz="1100" i="1" dirty="0">
              <a:solidFill>
                <a:srgbClr val="596169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8059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8059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 3 · RASCI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491740" y="155448"/>
            <a:ext cx="919703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Матрица RASCI: согласование графика (3.5.4)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Матрица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перевернута для удобства.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Роль R в каждой строке взята из колонки «Ответственный» раздела 5 кейса, роли A, S, C, I — гипотеза-дополнение команды</a:t>
            </a:r>
            <a:endParaRPr lang="en-US" sz="11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6313"/>
              </p:ext>
            </p:extLst>
          </p:nvPr>
        </p:nvGraphicFramePr>
        <p:xfrm>
          <a:off x="502920" y="1188720"/>
          <a:ext cx="11183112" cy="4315968"/>
        </p:xfrm>
        <a:graphic>
          <a:graphicData uri="http://schemas.openxmlformats.org/drawingml/2006/table">
            <a:tbl>
              <a:tblPr/>
              <a:tblGrid>
                <a:gridCol w="2423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658368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 процесса (раздел 5 кейса)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Менеджер по продажам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Рук. отдела продаж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Планировщик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Нач. завода ЖБИ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Дир. по производству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Фин. директор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Дир. по снабжению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Дир. по логистике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Юр. отдел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Комм. директор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Ген. директор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</a:t>
                      </a:r>
                      <a:endParaRPr lang="en-US" sz="8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2691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 Формирование запроса на отгрузку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мин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 Согласование коммерческих условий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 Проверка возможности производства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1,8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 Подтверждение возможности заводом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1,5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 Уточнение спецификации у клиента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1,7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6. Корректировка плана производства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4,2 часа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7. Утверждение корректировки плана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1,2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 Проверка влияния на себестоимость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1,1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9. Проверка наличия сырья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2,3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 Проверка возможности доставки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11. Проверка договорных условий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1,4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 Финальное утверждение графика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2,1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13. Информирование клиента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3,5 часа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14. Подтверждение графика клиентом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9AA0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F6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2,8 дня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623560"/>
            <a:ext cx="11183112" cy="96012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1520" y="5934456"/>
            <a:ext cx="10725912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показала матрица:</a:t>
            </a:r>
            <a:r>
              <a:rPr lang="en-US" sz="120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12 ролей и четыре разных утверждающих на 14 этапах; клиент участвует на пяти, а его корректировка на этапе 14 возвращает процесс на этап 3. Утверждающие на этапах 7–12 поставлены по тексту кейса: стандартный заказ утверждается на уровне коммерческого директора (коренная причина № 3), финальное утверждение согласуется с генеральным директором.</a:t>
            </a:r>
            <a:endParaRPr lang="en-US" sz="1200" dirty="0"/>
          </a:p>
        </p:txBody>
      </p:sp>
      <p:sp>
        <p:nvSpPr>
          <p:cNvPr id="6" name="Text 5">
            <a:extLst>
              <a:ext uri="{FF2B5EF4-FFF2-40B4-BE49-F238E27FC236}">
                <a16:creationId xmlns:a16="http://schemas.microsoft.com/office/drawing/2014/main" id="{C4A92124-5017-3283-F10C-8660FE6E489A}"/>
              </a:ext>
            </a:extLst>
          </p:cNvPr>
          <p:cNvSpPr txBox="1"/>
          <p:nvPr/>
        </p:nvSpPr>
        <p:spPr>
          <a:xfrm>
            <a:off x="731520" y="5696712"/>
            <a:ext cx="107259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выполняет   ·   </a:t>
            </a:r>
            <a:r>
              <a:rPr lang="en-US" sz="1100" b="1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принимает результат и отвечает за него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помогает исполнителю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консультирует   ·   </a:t>
            </a:r>
            <a:r>
              <a:rPr lang="en-US" sz="1100" b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информируется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A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5448"/>
            <a:ext cx="9585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Какой должна быть обратная связь</a:t>
            </a:r>
            <a:endParaRPr lang="en-US" sz="27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Обратная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это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потребителя, возвращённое процессу в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измеримом</a:t>
            </a: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i="1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виде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5486400" cy="384048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1078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ПОТРЕБИТЕЛЯ  →  К ПРОЦЕССУ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199632" y="1078992"/>
            <a:ext cx="5486400" cy="384048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199632" y="1078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kern="0" spc="1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ПРОЦЕССА  →  К ПОСТАВЩИКУ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04088" y="168249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 → доставка (4.4.4)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93852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Фактическое время разгрузки, соблюдение окна приёмки, причина отказа в приёмке. Сейчас обратной связи нет вовсе: система мониторинга транспорта существует, но данные клиенту не передаются, и 47 % клиентов звонят сами, чтобы узнать статус.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02920" y="267004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04088" y="277977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Клиент → согласование графика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303580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Причина корректировки на этапе 14. Каждая правка клиента возвращает заказ на этап 3 и запускает цепочку заново, но что именно он правит и почему — нигде 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76732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04088" y="387705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Производство и снабжение → планирование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413308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Исполнимость плана: сколько раз план пришлось менять вручную и по какой причине. 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к</a:t>
            </a:r>
            <a:r>
              <a:rPr lang="en-US" sz="1050" dirty="0" err="1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ейс</a:t>
            </a:r>
            <a:r>
              <a:rPr lang="ru-RU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</a:t>
            </a: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42 % планов расходятся со снабжением, среднее время устранения 7,2 дня.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02920" y="486460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04088" y="497433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Площадка → доставка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" y="523036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Норматив окна приёмки и стоимость часа простоя бригады. Сейчас сигнал приходит только претензией постфактум — 280 тыс. ₽ за простой техники и рабочих с 16:00 до 19:30.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99632" y="157276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6400800" y="168249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Планирование → продажам (О1, О2)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6400800" y="193852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прогноза в разрезе менеджера и клиента. Регламент требует ≥ 85 % и назначает ответственным аналитика логистики, хотя ошибку во вход вносят продажи: их метрикой точность прогноза не является.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199632" y="267004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0" y="277977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Планирование → поставщикам сырья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303580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Скользящий прогноз закупок на 3 месяца. Этап 9 согласования занимает 2,3 дня именно потому, что данные у четырёх поставщиков запрашиваются заново под каждый заказ.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199632" y="376732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0" y="387705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Доставка → заводам и складу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413308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Требование к моменту передачи входа: партия готова в 16:30, диспетчер узнаёт в 09:00. Эти 16,5 часа логистика обязана вернуть производству как требование, а не как претензию.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199632" y="4864608"/>
            <a:ext cx="5486400" cy="987552"/>
          </a:xfrm>
          <a:prstGeom prst="roundRect">
            <a:avLst>
              <a:gd name="adj" fmla="val 555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400800" y="497433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Согласование графика → планированию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230368"/>
            <a:ext cx="508406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Упущенный спрос: 38 % запросов, по которым обещание не выполнено, и отказы клиентов. Случай «СтройГрад» — 4,8 млн ₽ упущенной выручки и потеря клиента с объёмом 18 млн ₽ в год.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02920" y="5897880"/>
            <a:ext cx="11183112" cy="77724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731520" y="5971032"/>
            <a:ext cx="10725912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Аргументация: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все </a:t>
            </a:r>
            <a:r>
              <a:rPr lang="en-US" sz="115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восемь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ru-RU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методов обратной связи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сегодня разорваны, и именно </a:t>
            </a:r>
            <a:r>
              <a:rPr lang="en-US" sz="115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поэтому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50" dirty="0" err="1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ошибка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усиливается вниз по цепочке: в кейсе только 12 % метрик связаны с удовлетворённостью клиентов, то есть измеряется почти исключительно то, что видно изнутри. В терминах SIPOC обратная связь — это стрелка из колонки C обратно в колонку I: потребитель сообщает, каким должен быть вход, чтобы выход его устроил. Без неё процесс оптимизируется по внутренним показателям и не улучшает результат для клиента.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B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5448"/>
            <a:ext cx="9585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Ценность и качество результата для потребителя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Есть ли в кейсе информация о ценности и качестве результата, кто потребитель и внутренний он или внешний</a:t>
            </a:r>
            <a:endParaRPr lang="en-US" sz="11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15197"/>
              </p:ext>
            </p:extLst>
          </p:nvPr>
        </p:nvGraphicFramePr>
        <p:xfrm>
          <a:off x="502920" y="1115568"/>
          <a:ext cx="11183112" cy="3108960"/>
        </p:xfrm>
        <a:graphic>
          <a:graphicData uri="http://schemas.openxmlformats.org/drawingml/2006/table">
            <a:tbl>
              <a:tblPr/>
              <a:tblGrid>
                <a:gridCol w="1417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08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7043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Процесс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Результат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 чём ценность для потребителя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Кто потребитель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Внутр. / внеш.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Есть ли информация в кейсе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Сквозное планирование (S&amp;OP)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Прогноз спроса и оптимальный запас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Ритмичная работа: заводы не производят 42 % избыточных запасов в низкий сезон и не уходят в дефицит 12,7 % в пик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Производство, снабжение, логистика, продажи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внутренний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Качество — да: точность прогноза в пик ≈ 62 (расчёт) → 85 %, сезонность 3,8 → 2,2. Ценность словами не описана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+mn-lt"/>
                          <a:ea typeface="Cambria" pitchFamily="34" charset="-122"/>
                          <a:cs typeface="Cambria" pitchFamily="34" charset="-120"/>
                        </a:rPr>
                        <a:t>3.5.4</a:t>
                      </a:r>
                      <a:r>
                        <a:rPr lang="ru-RU" sz="1050" b="1" dirty="0">
                          <a:solidFill>
                            <a:srgbClr val="2B2F33"/>
                          </a:solidFill>
                          <a:latin typeface="+mn-lt"/>
                          <a:ea typeface="Cambria" pitchFamily="34" charset="-122"/>
                          <a:cs typeface="Cambria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Согласование</a:t>
                      </a: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графика отгрузки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Согласованный график отгрузки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Предсказуемость: прораб планирует работы и бригаду на конкретный день, не держа резерв на срыв поставки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Клиент-застройщик; планировщик и заводы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внешний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 внутренний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Качество — да: 9,0 дней при цели 2,0 и 47 % заказов с изменением графика. Цена сдвига даты для клиента — нет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 Доставка продукции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Партия на объекте в срок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Непрерывность работ на площадке: материал в окно приёмки, с паспортом качества и без повреждений при перевозке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Бригада и прораб на объекте; бухгалтерия застройщика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внешний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(главный)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Да, полнее всего: OTIF 78,4 % при 92 %, 2,8 часа доставки, 3,2 % повреждений, претензия 280 тыс. ₽ за простой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43891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04088" y="449884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</a:t>
            </a:r>
            <a:r>
              <a:rPr lang="en-US" sz="1000" b="1" kern="0" spc="100" dirty="0" err="1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</a:t>
            </a: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КЕЙСЕ ЕСТЬ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4718304"/>
            <a:ext cx="50840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Трёхуровневая система метрик: 3 показателя уровня 1, 5 уровня 2 и 4 уровня 3, все в паре «факт → цель», с формулой, частотой измерения и владельцем. Два сценария разрывов дают и цену ошибки: 4,8 млн ₽ упущенной выручки, 480 тыс. ₽ штрафа, 280 тыс. ₽ за простой площадки.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4389120"/>
            <a:ext cx="5486400" cy="1143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8"/>
          <p:cNvSpPr txBox="1"/>
          <p:nvPr/>
        </p:nvSpPr>
        <p:spPr>
          <a:xfrm>
            <a:off x="6400800" y="449884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ЧЕГО В КЕЙСЕ НЕТ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4718304"/>
            <a:ext cx="508406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Ценность глазами клиента не измеряется: кейс прямо фиксирует дефицит клиентоориентированности — только 12 % метрик связаны с удовлетворённостью клиентов. Нет NPS, доли повторных заказов, доли срывов работ на объекте. Потеря клиента оценена постфактум (18 млн ₽ в год), но метрики риска ухода нет.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502920" y="5669280"/>
            <a:ext cx="11183112" cy="73152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1"/>
          <p:cNvSpPr txBox="1"/>
          <p:nvPr/>
        </p:nvSpPr>
        <p:spPr>
          <a:xfrm>
            <a:off x="731520" y="5742432"/>
            <a:ext cx="1072591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информация о качестве результата есть и она количественная (12 метрик трёх уровней), о ценности — только косвенная, через штрафы и упущенную выручку. Главный потребитель — внешний (застройщик и бригада на площадке), но внутри цепочки его требования видят лишь три процесса из восьми (слайд 20).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C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5448"/>
            <a:ext cx="9585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Чего не хватает для полного описания, а что лишнее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полноты описания процессов по кейсу с точки зрения метода SIPOC и матрицы RASCI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5486400" cy="384048"/>
          </a:xfrm>
          <a:prstGeom prst="rect">
            <a:avLst/>
          </a:prstGeom>
          <a:solidFill>
            <a:srgbClr val="2B2F33"/>
          </a:solidFill>
          <a:ln w="12700">
            <a:solidFill>
              <a:srgbClr val="2B2F33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502920" y="1078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ХВАТАЕТ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199632" y="1078992"/>
            <a:ext cx="5486400" cy="384048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9" name="Text 7"/>
          <p:cNvSpPr txBox="1"/>
          <p:nvPr/>
        </p:nvSpPr>
        <p:spPr>
          <a:xfrm>
            <a:off x="6199632" y="1078992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ЛИШНЕЕ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1572768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1" name="Text 9"/>
          <p:cNvSpPr txBox="1"/>
          <p:nvPr/>
        </p:nvSpPr>
        <p:spPr>
          <a:xfrm>
            <a:off x="704088" y="1664208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Требований к входам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" y="1920240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для одного входа не сказано, каким он считается годным: запрос клиента принимается без проверки ресурсов, спецификация уточняется только на этапе 5, прогноз продаж — в любом виде.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02920" y="2468880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4" name="Text 12"/>
          <p:cNvSpPr txBox="1"/>
          <p:nvPr/>
        </p:nvSpPr>
        <p:spPr>
          <a:xfrm>
            <a:off x="704088" y="2560320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Матрицы полномочий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704088" y="2816352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Коренная причина № 3 кейса, названная прямо: даже стандартный заказ утверждается на уровне коммерческого директора. Это ровно то, что показала наша матрица RASCI.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02920" y="3364992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7" name="Text 15"/>
          <p:cNvSpPr txBox="1"/>
          <p:nvPr/>
        </p:nvSpPr>
        <p:spPr>
          <a:xfrm>
            <a:off x="704088" y="3456432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Единого контура данных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" y="3712464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Коренная причина № 1: данные фрагментированы между пятью системами, 68 % информации идёт по email и в мессенджерах, запасы ведутся в Excel.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02920" y="4261104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 18"/>
          <p:cNvSpPr txBox="1"/>
          <p:nvPr/>
        </p:nvSpPr>
        <p:spPr>
          <a:xfrm>
            <a:off x="704088" y="4352544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Системы управления изменениями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" y="4608576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Коренная причина № 5: любая корректировка клиента возвращает заказ на этап 3 и запускает все 14 этапов заново.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02920" y="5157216"/>
            <a:ext cx="5486400" cy="82296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3" name="Text 21"/>
          <p:cNvSpPr txBox="1"/>
          <p:nvPr/>
        </p:nvSpPr>
        <p:spPr>
          <a:xfrm>
            <a:off x="704088" y="5248656"/>
            <a:ext cx="508406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Обратной связи от клиента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704088" y="5504688"/>
            <a:ext cx="508406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Данные мониторинга транспорта клиенту не передаются, причины корректировок не фиксируются, удовлетворённость покрыта лишь 12 % метрик.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99632" y="1572768"/>
            <a:ext cx="5486400" cy="1408176"/>
          </a:xfrm>
          <a:prstGeom prst="roundRect">
            <a:avLst>
              <a:gd name="adj" fmla="val 389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6" name="Text 24"/>
          <p:cNvSpPr txBox="1"/>
          <p:nvPr/>
        </p:nvSpPr>
        <p:spPr>
          <a:xfrm>
            <a:off x="6400800" y="1682496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Последовательные визы на этапах 7–12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0" y="2176272"/>
            <a:ext cx="5084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Сами проверки сырья, транспорта и себестоимости нужны — это и есть ATP. Лишние их последовательность и выход каждой на коммерческого или генерального директора: суммарная длительность этапов 7–12 — 8,9 дня.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99632" y="3054096"/>
            <a:ext cx="5486400" cy="1408176"/>
          </a:xfrm>
          <a:prstGeom prst="roundRect">
            <a:avLst>
              <a:gd name="adj" fmla="val 389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9" name="Text 27"/>
          <p:cNvSpPr txBox="1"/>
          <p:nvPr/>
        </p:nvSpPr>
        <p:spPr>
          <a:xfrm>
            <a:off x="6400800" y="3163824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Повторный ручной ввод одних и тех же данных</a:t>
            </a:r>
            <a:endParaRPr lang="en-US" sz="1400" dirty="0"/>
          </a:p>
        </p:txBody>
      </p:sp>
      <p:sp>
        <p:nvSpPr>
          <p:cNvPr id="30" name="Text 28"/>
          <p:cNvSpPr txBox="1"/>
          <p:nvPr/>
        </p:nvSpPr>
        <p:spPr>
          <a:xfrm>
            <a:off x="6400800" y="3657600"/>
            <a:ext cx="5084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Запрос заносится в Excel, затем в систему планирования, ERP и систему управления транспортом. Для SIPOC это один и тот же вход, поступающий четыре раза, — потери на стыке в чистом виде.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199632" y="4535424"/>
            <a:ext cx="5486400" cy="1408176"/>
          </a:xfrm>
          <a:prstGeom prst="roundRect">
            <a:avLst>
              <a:gd name="adj" fmla="val 3896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2" name="Text 30"/>
          <p:cNvSpPr txBox="1"/>
          <p:nvPr/>
        </p:nvSpPr>
        <p:spPr>
          <a:xfrm>
            <a:off x="6400800" y="4645152"/>
            <a:ext cx="50840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Сведения кейса, избыточные для SIPOC</a:t>
            </a:r>
            <a:endParaRPr lang="en-US" sz="1400" dirty="0"/>
          </a:p>
        </p:txBody>
      </p:sp>
      <p:sp>
        <p:nvSpPr>
          <p:cNvPr id="33" name="Text 31"/>
          <p:cNvSpPr txBox="1"/>
          <p:nvPr/>
        </p:nvSpPr>
        <p:spPr>
          <a:xfrm>
            <a:off x="6400800" y="5138928"/>
            <a:ext cx="5084064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50"/>
              </a:lnSpc>
              <a:buNone/>
            </a:pPr>
            <a:r>
              <a:rPr lang="en-US" sz="10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корпоративной культуры, возраст и автоматизация линий, финансовый эффект трансформации не ложатся ни в одну колонку SIPOC и ни в одну роль RASCI: они нужны для диагноза, а не для описания процесса.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502920" y="6053328"/>
            <a:ext cx="11183112" cy="621792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5" name="Text 33"/>
          <p:cNvSpPr txBox="1"/>
          <p:nvPr/>
        </p:nvSpPr>
        <p:spPr>
          <a:xfrm>
            <a:off x="731520" y="6126480"/>
            <a:ext cx="10725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именно так: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«лишнее» — то, что не влияет на результат для потребителя: в SIPOC это этап без выхода в колонке O или сведения, не попадающие ни в одну колонку. Отдельно — противоречия в кейсе: сумма 14 этапов ≈ 20 дней при итоге 9,0 (параллельность не описана); в оргструктуре один «Директор по снабжению и логистике», а в целях и RACI — два разных директора.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D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5448"/>
            <a:ext cx="9585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Требования и критерии качества процесса и его этапов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по этому поводу есть в кейсе, что мы достроили гипотезой и как это связано с этапами диаграмм</a:t>
            </a:r>
            <a:endParaRPr lang="en-US" sz="11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68527810"/>
              </p:ext>
            </p:extLst>
          </p:nvPr>
        </p:nvGraphicFramePr>
        <p:xfrm>
          <a:off x="502920" y="1024128"/>
          <a:ext cx="11183112" cy="4809744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23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10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Уровень требования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есть в кейсе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Источник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Чего не хватает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процессу в целом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Семь метрик контроля регламента ЛОГ-15/2024 и трёхуровневая система из 12 KPI: у каждой метрики есть формула, факт, цель, частота измерения и владелец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Разделы 1, 6, 7 кейса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Требования заданы к результату, но не к способу его получения: нет норматива трудоёмкости и стоимости самого процесса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этапам процесса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Временные требования заданы триггерами регламента: прогноз до 25-го числа, корректировка плана еженедельно, мониторинг запасов в 08:00, уведомление клиента при отклонении более 30 минут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Пять триггеров регламента ЛОГ-15/2024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Триггеры задают, когда этап запускается, но не задают, каким должен быть его результат и кто его принимает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входам процесса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описаны. Ни один из входов трёх процессов не имеет критерия годности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Наша гипотеза-дополнение — таблица требований на слайде 24: срок передачи, состав данных, допустимое отклонение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выходам процесса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Описаны частично: для продукции есть показатели качества (18 % продукции с разрывом «Производство ↔ Качество», 3,2 % повреждений при перевозке), для плана и подтверждённого заказа критериев приёмки нет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Разделы 4 и 6 кейса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Для информационных выходов (план, ATP, график) критерии приёмки нужно вводить отдельно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отклонениям процесса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Пороги и сроки реакции заданы: отклонение прогноза &gt; 25 % — анализ за 5 рабочих дней; избыточные запасы &gt; 35 % — реакция за 24 часа; дефицит в пик &gt; 8 % — немедленно; задержка доставки &gt; 60 минут — компенсация за 2 часа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Процедура отклонений и корректирующих действий, раздел 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Это самая сильная часть описания: заданы и критерий, и срок, и ответственный. Но она существует только для регламента ЛОГ-15/2024 и не распространена на согласование графика отгрузки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К стыкам между процессами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Не описаны. Именно поэтому пять разрывов измерены в потерях, но не в нарушенных требованиях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C9C6B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Предлагаем ввести соглашение об уровне обслуживания между дирекциями: одно измеримое требование на каждую пару «выход → вход»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952744"/>
            <a:ext cx="11183112" cy="749808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8" name="Text 5"/>
          <p:cNvSpPr txBox="1"/>
          <p:nvPr/>
        </p:nvSpPr>
        <p:spPr>
          <a:xfrm>
            <a:off x="731520" y="6025896"/>
            <a:ext cx="1072591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Ответ: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требования к процессу в целом в кейсе есть и они измеримы; к отклонениям заданы пороги и сроки реакции; к этапам — только время запуска; требований к входам и к стыкам между процессами нет вообще. Для метода SIPOC это принципиальный пробел: без требования к входу колонка I остаётся перечнем названий, а не описанием условий работы процесса.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02920" y="274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ВОПРОС E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5448"/>
            <a:ext cx="9585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Связи с другими процессами и что на них указывает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Связь считается подтверждённой, если выход одного процесса является входом другого и это прямо следует из текста кейса или из шифров эталонной модели APQC PCF</a:t>
            </a:r>
            <a:endParaRPr lang="en-US" sz="11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041068"/>
              </p:ext>
            </p:extLst>
          </p:nvPr>
        </p:nvGraphicFramePr>
        <p:xfrm>
          <a:off x="502920" y="914400"/>
          <a:ext cx="11183112" cy="4443984"/>
        </p:xfrm>
        <a:graphic>
          <a:graphicData uri="http://schemas.openxmlformats.org/drawingml/2006/table">
            <a:tbl>
              <a:tblPr/>
              <a:tblGrid>
                <a:gridCol w="1783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9651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120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Связь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Тип связи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передаётся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Что именно указывает на связь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2F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Согласование графика → 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последовательная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Подтверждённый спрос и заявки клиентов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Этапы 3, 9 и 10 согласования запрашивают у планирования и снабжения ровно те данные, которые производит процесс 4.1 (Триггер 4 регламента — формирование заказа на доставку)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→ 4.2 и 4.3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последовательная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План закупок сырья и производственный график MPS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2: при отклонении &gt; 15 % автоматически корректируются и план производства, и закупки сырья; разрыв «Планирование ↔ Снабжение» — 42 % планов, 350 млн 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4.1 → 4.4.3 и 4.4.4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последовательная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График отгрузки и потребность в транспорте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Сценарий разрыва 2 в кейсе: готовность партии в 16:30 — информация в логистику в 09:00 — отгрузка в 18:20. Общий объект управления — партия к отгрузке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4.4.4 → претензии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последовательная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Акт расхождений, претензия, факт нарушения срока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Триггер 5: отклонение более 30 минут порождает уведомление, компенсацию 5 % при задержке свыше часа и фиксацию инцидента для анализа причин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Претензии → 4.1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b="1" dirty="0">
                          <a:solidFill>
                            <a:srgbClr val="D2691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обратная связь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Причины претензий и упущенный спрос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i="1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Частично: регламент требует фиксировать инциденты для анализа повторяющихся причин, но их возврат в прогноз спроса не описан, а претензии клиентов вообще не связаны с планированием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У1–У4 → все процессы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управляющая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Цели 2027, бюджет, нормативы СМК, карта рисков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Дерево целей ДЗ-1: каждая из 12 целей процессов закреплена за процессом ПВУ и его владельцем; метрики целей совпадают с метриками уровней 2–4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12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 и службы → все процессы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50" dirty="0">
                          <a:solidFill>
                            <a:srgbClr val="5A61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вспомогательная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ИТ-системы, персонал, ремонт парка, финансы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2B2F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Пять несвязанных систем (1С, SAP ERP, система прогноза, TMS, мониторинг) названы коренной причиной № 1; средний возраст линий 9–19 лет влияет на исполнимость плана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9C6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02920" y="548640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04088" y="559612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 ПО СВЯЗЯМ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04088" y="5815584"/>
            <a:ext cx="5084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связей из семи подтверждаются текстом кейса напрямую: сценариями разрывов, триггерами регламента или общей метрикой. Седьмая — возврат причин претензий в прогноз спроса — регламентом заявлена, но ни ответственного, ни получателя у неё нет.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199632" y="5486400"/>
            <a:ext cx="5486400" cy="1097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400800" y="5596128"/>
            <a:ext cx="50840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ЧТО ЭТО ЗНАЧИТ ДЛЯ SIPOC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6400800" y="5815584"/>
            <a:ext cx="5084064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50"/>
              </a:lnSpc>
              <a:buNone/>
            </a:pPr>
            <a:r>
              <a:rPr lang="en-US" sz="110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Колонки S и C детальных диаграмм почти целиком заполнены внутренними подразделениями. Три приоритетных процесса нельзя улучшать по отдельности: изменение требования к выходу процесса 4.1 немедленно меняет вход согласования графика и доставки.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274320"/>
            <a:ext cx="141732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/>
          <p:cNvSpPr txBox="1"/>
          <p:nvPr/>
        </p:nvSpPr>
        <p:spPr>
          <a:xfrm>
            <a:off x="502920" y="274320"/>
            <a:ext cx="1417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ВЫВОДЫ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2103120" y="155448"/>
            <a:ext cx="9585655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2B2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Плюсы и минусы методов применительно к нашему кейсу</a:t>
            </a:r>
            <a:endParaRPr lang="en-US" sz="2100" dirty="0"/>
          </a:p>
        </p:txBody>
      </p:sp>
      <p:sp>
        <p:nvSpPr>
          <p:cNvPr id="5" name="Text 3"/>
          <p:cNvSpPr txBox="1"/>
          <p:nvPr/>
        </p:nvSpPr>
        <p:spPr>
          <a:xfrm>
            <a:off x="923544" y="603504"/>
            <a:ext cx="10762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100" i="1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Оценка SIPOC и RASCI не вообще, а с учётом специфики: сезонное многозаводское производство, межфункциональные разрывы, длинные согласования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02920" y="1078992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Text 5"/>
          <p:cNvSpPr txBox="1"/>
          <p:nvPr/>
        </p:nvSpPr>
        <p:spPr>
          <a:xfrm>
            <a:off x="704088" y="1188720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SIPOC · ПЛЮСЫ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1490472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Делает предметом описания стык, а не подразделение: для кейса с пятью межфункциональными разрывами это попадание в цель.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Быстро задаёт границы и заставляет назвать потребителя — сразу стало видно, что у пяти процессов из восьми потребитель только внутренний, а клиент покрыт лишь 12 % метрик.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требует специального ПО и понятен и производственнику, и коммерсанту: годится как форма протокола интервью.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Хорошо стыкуется с APQC PCF: этапы колонки P — это операции уровня 4 с готовыми шифрами и метриками.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199632" y="1078992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0" name="Text 8"/>
          <p:cNvSpPr txBox="1"/>
          <p:nvPr/>
        </p:nvSpPr>
        <p:spPr>
          <a:xfrm>
            <a:off x="6400800" y="1188720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SIPOC · МИНУСЫ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473952" y="1490472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Статичен: не показывает времени. Мы смогли положить 9,0 дней на диаграмму, только подписав длительность к каждому этапу вручную — сам метод этого не предусматривает.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отображает возвраты и циклы: возврат с этапа 14 на этап 3 и 47 % заказов с изменением графика в SIPOC не выражаются никак.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содержит требований к входам и выходам — пришлось достраивать отдельной таблицей, иначе колонки I и O остаются списком названий.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Границы процесса задаются субъективно: сдвинув границу на один этап, мы меняем и поставщиков, и потребителей.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Для 21 процесса ПВУ нужен 21 SIPOC — метод плохо масштабируется вширь.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02920" y="352044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FFFFF"/>
          </a:solidFill>
          <a:ln w="12700">
            <a:solidFill>
              <a:srgbClr val="C9C6B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3" name="Text 11"/>
          <p:cNvSpPr txBox="1"/>
          <p:nvPr/>
        </p:nvSpPr>
        <p:spPr>
          <a:xfrm>
            <a:off x="704088" y="3630168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RASCI · ПЛЮСЫ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77240" y="39319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Мгновенно показал главный дефект: в матрице RACI самого кейса роль A не проставлена ни разу, хотя есть в легенде. Метод нашёл дыру в действующем регламенте.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Показывает дробление ответственности: четыре утверждающих и шесть последовательных виз на 14 этапах прямо объясняют разрыв между 9,0 и 2,0 днями.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Удобен как основа для разговора о передаче полномочий: видно, какую именно ячейку нужно переназначить.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Роль S оказалась полезной: она показала вклад ИТ-служб и систем, который в RACI кейса растворён в общей роли «Система».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99632" y="3520440"/>
            <a:ext cx="5486400" cy="2331720"/>
          </a:xfrm>
          <a:prstGeom prst="roundRect">
            <a:avLst>
              <a:gd name="adj" fmla="val 2353"/>
            </a:avLst>
          </a:prstGeom>
          <a:solidFill>
            <a:srgbClr val="FDF6F0"/>
          </a:solidFill>
          <a:ln w="1905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6" name="Text 14"/>
          <p:cNvSpPr txBox="1"/>
          <p:nvPr/>
        </p:nvSpPr>
        <p:spPr>
          <a:xfrm>
            <a:off x="6400800" y="3630168"/>
            <a:ext cx="50840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2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RASCI · МИНУСЫ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6473952" y="393192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содержит времени и последовательности: матрица не отличает этап длиной в час от этапа длиной в неделю.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Разрастается: матрицу на 14 этапов и 12 ролей пришлось транспонировать, иначе она не читается на слайде.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Сильно зависит от полноты описания: исполнителей кейс дал, а вот весь уровень утверждения (A) пришлось вводить гипотезой — и именно на нём строится главный вывод.</a:t>
            </a:r>
            <a:endParaRPr lang="en-US" sz="1050" dirty="0"/>
          </a:p>
          <a:p>
            <a:pPr marL="342900" indent="-342900">
              <a:lnSpc>
                <a:spcPts val="1250"/>
              </a:lnSpc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5A61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показывает загрузку роли: диспетчерская служба выглядит как одна ячейка R, хотя 14 человек обрабатывают все рейсы 12 регионов.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02920" y="5943600"/>
            <a:ext cx="11183112" cy="822960"/>
          </a:xfrm>
          <a:prstGeom prst="rect">
            <a:avLst/>
          </a:prstGeom>
          <a:solidFill>
            <a:srgbClr val="F1F0EC"/>
          </a:solidFill>
          <a:ln w="12700">
            <a:solidFill>
              <a:srgbClr val="F1F0EC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19" name="Text 17"/>
          <p:cNvSpPr txBox="1"/>
          <p:nvPr/>
        </p:nvSpPr>
        <p:spPr>
          <a:xfrm>
            <a:off x="731520" y="6016752"/>
            <a:ext cx="10725912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150" b="1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Итоговый вывод о применимости:</a:t>
            </a:r>
            <a:r>
              <a:rPr lang="en-US" sz="1150" dirty="0">
                <a:solidFill>
                  <a:srgbClr val="2B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для этого кейса SIPOC и RASCI — правильная пара на этапе диагностики: первый находит разорванные стыки, второй показывает, что у них нет хозяина. Но оба метода слепы ко времени, а главная проблема кейса — 9,0 дней согласования и задержка сигнала о готовности партии на 16,5 часа — это именно время.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ЗАДАНИЯ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 метод SIPOC на этом кейсе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диаграммы SIPOC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уровень A и три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детальных уровня B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матрицы RASCI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 этапов и 24 роли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(без повторов между матрицами)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связей с процессами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шесть подтверждены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кейсом, одна формальна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8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ролей A в кейсе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матрице RACI регламента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проставлено ни одной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977640"/>
            <a:ext cx="11064240" cy="18288"/>
          </a:xfrm>
          <a:prstGeom prst="rect">
            <a:avLst/>
          </a:prstGeom>
          <a:solidFill>
            <a:srgbClr val="4A4F55"/>
          </a:solidFill>
          <a:ln w="12700">
            <a:solidFill>
              <a:srgbClr val="4A4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777240" y="4343400"/>
            <a:ext cx="4350102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dirty="0" err="1">
                <a:solidFill>
                  <a:srgbClr val="C9C6BF"/>
                </a:solidFill>
                <a:latin typeface="Calibri"/>
              </a:rPr>
              <a:t>Далее - отчёт по заданию к семинару 3  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234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 3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829800" y="1783080"/>
            <a:ext cx="1554480" cy="3200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Архитектура процессов в BPMN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1600200" cy="3200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«СтройМатериалы-Холдинг» · межпроцессное взаимодействие: пулы, потоки сообщений, базы данных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01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 VAD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приоритеты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ДЗ 1, SIPOC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RASCI ДЗ 2  ·  О2 3.5.4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приём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заказов</a:t>
            </a: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 О3 4.1 S&amp;OP,  О7 4.4.4 </a:t>
            </a:r>
            <a:r>
              <a:rPr lang="en-US" sz="1250" dirty="0" err="1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доставка</a:t>
            </a:r>
            <a:endParaRPr lang="en-US" sz="1250" dirty="0"/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D861999-A096-BCC4-AEA9-A273FE01E5DC}"/>
              </a:ext>
            </a:extLst>
          </p:cNvPr>
          <p:cNvSpPr txBox="1"/>
          <p:nvPr/>
        </p:nvSpPr>
        <p:spPr>
          <a:xfrm>
            <a:off x="768096" y="45948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D1B96A8-3E49-7D7D-AC5B-DE8073BDA353}"/>
              </a:ext>
            </a:extLst>
          </p:cNvPr>
          <p:cNvSpPr txBox="1"/>
          <p:nvPr/>
        </p:nvSpPr>
        <p:spPr>
          <a:xfrm>
            <a:off x="768096" y="48691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Денисенко Денис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Коптюбенко Тимофей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Богданов Богдан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Лапин Юрий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Трюхан Борис</a:t>
            </a:r>
            <a:endParaRPr lang="en-US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74320"/>
            <a:ext cx="159837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59837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850" b="1" i="0" spc="120">
                <a:solidFill>
                  <a:srgbClr val="D2691E"/>
                </a:solidFill>
                <a:latin typeface="Calibri"/>
                <a:ea typeface="Calibri"/>
                <a:cs typeface="Calibri"/>
              </a:rPr>
              <a:t>BPMN · УРОВЕНЬ 2</a:t>
            </a:r>
            <a:endParaRPr sz="850"/>
          </a:p>
        </p:txBody>
      </p:sp>
      <p:sp>
        <p:nvSpPr>
          <p:cNvPr id="4" name="TextBox 3"/>
          <p:cNvSpPr txBox="1"/>
          <p:nvPr/>
        </p:nvSpPr>
        <p:spPr>
          <a:xfrm>
            <a:off x="2302459" y="155448"/>
            <a:ext cx="938357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2400" b="1" i="0" dirty="0" err="1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Архитектура</a:t>
            </a:r>
            <a:r>
              <a:rPr sz="2400" b="1" i="0" dirty="0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0" dirty="0" err="1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взаимодействия</a:t>
            </a:r>
            <a:r>
              <a:rPr sz="2400" b="1" i="0" dirty="0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 </a:t>
            </a:r>
            <a:r>
              <a:rPr sz="2400" b="1" i="0" dirty="0" err="1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процессов</a:t>
            </a:r>
            <a:endParaRPr sz="2400" dirty="0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3496A8FB-F787-1B03-358E-4239E93E4CE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86005" y="667512"/>
            <a:ext cx="10819990" cy="6190488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685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ИТОГ ЗАДАНИЯ 3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777240" y="100584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дала BPMN-модель на этом кейсе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58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пулов в модели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свёрнутых внешних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 err="1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</a:t>
            </a: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3 развёрнутых процесса ПВУ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361188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5800" dirty="0"/>
          </a:p>
        </p:txBody>
      </p:sp>
      <p:sp>
        <p:nvSpPr>
          <p:cNvPr id="8" name="Text 6"/>
          <p:cNvSpPr txBox="1"/>
          <p:nvPr/>
        </p:nvSpPr>
        <p:spPr>
          <a:xfrm>
            <a:off x="361188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потоков сообщений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361188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проходят через </a:t>
            </a:r>
            <a:r>
              <a:rPr lang="en-US" sz="1050" dirty="0" err="1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разрывы</a:t>
            </a: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1–4,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1 230 млн ₽ из 1 370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4652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5800" dirty="0"/>
          </a:p>
        </p:txBody>
      </p:sp>
      <p:sp>
        <p:nvSpPr>
          <p:cNvPr id="11" name="Text 9"/>
          <p:cNvSpPr txBox="1"/>
          <p:nvPr/>
        </p:nvSpPr>
        <p:spPr>
          <a:xfrm>
            <a:off x="644652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связей с базами данных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644652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систем и файлов;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ATP не опирается ни на одну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9281160" y="19659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D269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58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288036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обратных потоков в О3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9281160" y="318211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 доставки и претензии</a:t>
            </a:r>
            <a:endParaRPr lang="en-US" sz="10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1050" dirty="0">
                <a:solidFill>
                  <a:srgbClr val="9AA0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прогноз не возвращаются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7240" y="3977640"/>
            <a:ext cx="11064240" cy="18288"/>
          </a:xfrm>
          <a:prstGeom prst="rect">
            <a:avLst/>
          </a:prstGeom>
          <a:solidFill>
            <a:srgbClr val="4A4F55"/>
          </a:solidFill>
          <a:ln w="12700">
            <a:solidFill>
              <a:srgbClr val="4A4F55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777240" y="4343400"/>
            <a:ext cx="46000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lang="ru-RU" dirty="0">
                <a:solidFill>
                  <a:srgbClr val="C9C6BF"/>
                </a:solidFill>
                <a:latin typeface="Calibri"/>
              </a:rPr>
              <a:t>Далее - отчёт по заданию к семинару 4  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77240" y="12344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ru-RU" sz="1100" b="1" kern="0" spc="20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ДОМАШНЕЕ ЗАДАНИЕ 4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9829800" y="1783080"/>
            <a:ext cx="1554480" cy="3200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" name="Text 2"/>
          <p:cNvSpPr txBox="1"/>
          <p:nvPr/>
        </p:nvSpPr>
        <p:spPr>
          <a:xfrm>
            <a:off x="777240" y="187452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Детальная процедура в BPMN</a:t>
            </a:r>
            <a:endParaRPr lang="en-US" sz="4600" dirty="0"/>
          </a:p>
        </p:txBody>
      </p:sp>
      <p:sp>
        <p:nvSpPr>
          <p:cNvPr id="5" name="Shape 3"/>
          <p:cNvSpPr/>
          <p:nvPr/>
        </p:nvSpPr>
        <p:spPr>
          <a:xfrm>
            <a:off x="777240" y="2880360"/>
            <a:ext cx="1600200" cy="32004"/>
          </a:xfrm>
          <a:prstGeom prst="rect">
            <a:avLst/>
          </a:prstGeom>
          <a:solidFill>
            <a:srgbClr val="D2691E"/>
          </a:solidFill>
          <a:ln w="12700">
            <a:solidFill>
              <a:srgbClr val="D2691E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Text 4"/>
          <p:cNvSpPr txBox="1"/>
          <p:nvPr/>
        </p:nvSpPr>
        <p:spPr>
          <a:xfrm>
            <a:off x="777240" y="30632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«СтройМатериалы-Холдинг» · процесс О2 «Согласование графика отгрузки» (APQC PCF 3.5.4): дорожки, шлюзы, события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" y="3401568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C9C6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Основа: модель межпроцессного взаимодействия ДЗ 3 — пул О2 развёрнут в подробную процедуру по 14 этапам раздела 5 кейса</a:t>
            </a:r>
          </a:p>
        </p:txBody>
      </p:sp>
      <p:sp>
        <p:nvSpPr>
          <p:cNvPr id="13" name="Text 7">
            <a:extLst>
              <a:ext uri="{FF2B5EF4-FFF2-40B4-BE49-F238E27FC236}">
                <a16:creationId xmlns:a16="http://schemas.microsoft.com/office/drawing/2014/main" id="{CD861999-A096-BCC4-AEA9-A273FE01E5DC}"/>
              </a:ext>
            </a:extLst>
          </p:cNvPr>
          <p:cNvSpPr txBox="1"/>
          <p:nvPr/>
        </p:nvSpPr>
        <p:spPr>
          <a:xfrm>
            <a:off x="768096" y="4594860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40" dirty="0">
                <a:solidFill>
                  <a:srgbClr val="D269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КОМАНДА</a:t>
            </a:r>
            <a:endParaRPr lang="en-US" sz="1200" dirty="0"/>
          </a:p>
        </p:txBody>
      </p:sp>
      <p:sp>
        <p:nvSpPr>
          <p:cNvPr id="14" name="Text 8">
            <a:extLst>
              <a:ext uri="{FF2B5EF4-FFF2-40B4-BE49-F238E27FC236}">
                <a16:creationId xmlns:a16="http://schemas.microsoft.com/office/drawing/2014/main" id="{0D1B96A8-3E49-7D7D-AC5B-DE8073BDA353}"/>
              </a:ext>
            </a:extLst>
          </p:cNvPr>
          <p:cNvSpPr txBox="1"/>
          <p:nvPr/>
        </p:nvSpPr>
        <p:spPr>
          <a:xfrm>
            <a:off x="768096" y="4869180"/>
            <a:ext cx="50292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Денисенко Денис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Коптюбенко Тимофей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Богданов Богдан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Лапин Юрий</a:t>
            </a:r>
            <a:endParaRPr lang="en-US" dirty="0"/>
          </a:p>
          <a:p>
            <a:pPr marL="0" indent="0">
              <a:lnSpc>
                <a:spcPct val="112000"/>
              </a:lnSpc>
              <a:buNone/>
            </a:pPr>
            <a:r>
              <a:rPr lang="en-US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Трюхан Борис</a:t>
            </a:r>
            <a:endParaRPr lang="en-US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74320"/>
            <a:ext cx="1598371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1598371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850" b="1" i="0" spc="120">
                <a:solidFill>
                  <a:srgbClr val="D2691E"/>
                </a:solidFill>
                <a:latin typeface="Calibri"/>
                <a:ea typeface="Calibri"/>
                <a:cs typeface="Calibri"/>
              </a:rPr>
              <a:t>BPMN · УРОВЕНЬ 3</a:t>
            </a:r>
            <a:endParaRPr sz="850"/>
          </a:p>
        </p:txBody>
      </p:sp>
      <p:sp>
        <p:nvSpPr>
          <p:cNvPr id="4" name="TextBox 3"/>
          <p:cNvSpPr txBox="1"/>
          <p:nvPr/>
        </p:nvSpPr>
        <p:spPr>
          <a:xfrm>
            <a:off x="2302459" y="155448"/>
            <a:ext cx="9383572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2400" b="1" i="0" dirty="0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Согласование графика отгрузки «как есть»</a:t>
            </a:r>
          </a:p>
        </p:txBody>
      </p:sp>
      <p:pic>
        <p:nvPicPr>
          <p:cNvPr id="127" name="BPMN: О2 Согласование графика отгрузки, как есть" descr="BPMN: О2 Согласование графика отгрузки, как есть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14578" y="667512"/>
            <a:ext cx="11762843" cy="5536470"/>
          </a:xfrm>
          <a:prstGeom prst="rect">
            <a:avLst/>
          </a:prstGeom>
          <a:ln w="9525">
            <a:solidFill>
              <a:srgbClr val="D5D8DC"/>
            </a:solidFill>
          </a:ln>
        </p:spPr>
      </p:pic>
      <p:sp>
        <p:nvSpPr>
          <p:cNvPr id="128" name="TextBox 128"/>
          <p:cNvSpPr txBox="1"/>
          <p:nvPr/>
        </p:nvSpPr>
        <p:spPr>
          <a:xfrm>
            <a:off x="214578" y="6275419"/>
            <a:ext cx="11201400" cy="45720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marL="0" indent="0"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ru-RU" sz="950" b="0" i="0" dirty="0">
                <a:solidFill>
                  <a:srgbClr val="5F6368"/>
                </a:solidFill>
                <a:latin typeface="Calibri"/>
                <a:ea typeface="Calibri"/>
                <a:cs typeface="Calibri"/>
              </a:rPr>
              <a:t>Сплошная стрелка — поток управления. пунктир с кружком — поток сообщений. точечная линия — связь с данными и аннотацией. </a:t>
            </a:r>
            <a:r>
              <a:rPr lang="ru-RU" sz="950" b="1" i="0" dirty="0">
                <a:solidFill>
                  <a:srgbClr val="2B2F33"/>
                </a:solidFill>
                <a:latin typeface="Calibri"/>
                <a:ea typeface="Calibri"/>
                <a:cs typeface="Calibri"/>
              </a:rPr>
              <a:t>Модель в формате .bpmn приложена отдельным файлом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74320"/>
            <a:ext cx="205740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0574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850" b="1" i="0" spc="120">
                <a:solidFill>
                  <a:srgbClr val="D2691E"/>
                </a:solidFill>
                <a:latin typeface="Calibri"/>
                <a:ea typeface="Calibri"/>
                <a:cs typeface="Calibri"/>
              </a:rPr>
              <a:t>ФРАГМЕНТ 1 · ЭТАПЫ 1–6</a:t>
            </a:r>
            <a:endParaRPr sz="850"/>
          </a:p>
        </p:txBody>
      </p:sp>
      <p:sp>
        <p:nvSpPr>
          <p:cNvPr id="4" name="TextBox 3"/>
          <p:cNvSpPr txBox="1"/>
          <p:nvPr/>
        </p:nvSpPr>
        <p:spPr>
          <a:xfrm>
            <a:off x="2760320" y="155448"/>
            <a:ext cx="8925711" cy="51206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2400" b="1" i="0" dirty="0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От заявки до пересчёта плана производства</a:t>
            </a:r>
          </a:p>
        </p:txBody>
      </p:sp>
      <p:pic>
        <p:nvPicPr>
          <p:cNvPr id="129" name="Фрагмент 1: этапы 1–6" descr="Фрагмент 1: этапы 1–6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582" y="978694"/>
            <a:ext cx="12150835" cy="4900612"/>
          </a:xfrm>
          <a:prstGeom prst="rect">
            <a:avLst/>
          </a:prstGeom>
          <a:ln w="9525">
            <a:solidFill>
              <a:srgbClr val="D5D8DC"/>
            </a:solidFill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02920" y="274320"/>
            <a:ext cx="2148840" cy="2743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2700">
            <a:solidFill>
              <a:srgbClr val="D2691E"/>
            </a:solidFill>
          </a:ln>
        </p:spPr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74320"/>
            <a:ext cx="214884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ctr">
              <a:buNone/>
            </a:pPr>
            <a:r>
              <a:rPr sz="850" b="1" i="0" spc="120">
                <a:solidFill>
                  <a:srgbClr val="D2691E"/>
                </a:solidFill>
                <a:latin typeface="Calibri"/>
                <a:ea typeface="Calibri"/>
                <a:cs typeface="Calibri"/>
              </a:rPr>
              <a:t>ФРАГМЕНТ 2 · ЭТАПЫ 7–14</a:t>
            </a:r>
            <a:endParaRPr sz="850"/>
          </a:p>
        </p:txBody>
      </p:sp>
      <p:sp>
        <p:nvSpPr>
          <p:cNvPr id="4" name="TextBox 3"/>
          <p:cNvSpPr txBox="1"/>
          <p:nvPr/>
        </p:nvSpPr>
        <p:spPr>
          <a:xfrm>
            <a:off x="322330" y="548640"/>
            <a:ext cx="3058635" cy="92333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marL="0" indent="0" algn="l">
              <a:buNone/>
            </a:pPr>
            <a:r>
              <a:rPr sz="2000" b="1" i="0" dirty="0">
                <a:solidFill>
                  <a:srgbClr val="2B2F33"/>
                </a:solidFill>
                <a:latin typeface="Cambria"/>
                <a:ea typeface="Cambria"/>
                <a:cs typeface="Cambria"/>
              </a:rPr>
              <a:t>Визы, параллельные проверки и ответ клиента</a:t>
            </a:r>
          </a:p>
        </p:txBody>
      </p:sp>
      <p:pic>
        <p:nvPicPr>
          <p:cNvPr id="133" name="Фрагмент 2: этапы 7–14" descr="Фрагмент 2: этапы 7–14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195771" y="0"/>
            <a:ext cx="8067230" cy="6858000"/>
          </a:xfrm>
          <a:prstGeom prst="rect">
            <a:avLst/>
          </a:prstGeom>
          <a:ln w="9525">
            <a:solidFill>
              <a:srgbClr val="D5D8DC"/>
            </a:solidFill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B2F3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2">
            <a:extLst>
              <a:ext uri="{FF2B5EF4-FFF2-40B4-BE49-F238E27FC236}">
                <a16:creationId xmlns:a16="http://schemas.microsoft.com/office/drawing/2014/main" id="{A9675565-432C-13FB-CCA1-DE24AB3B1B03}"/>
              </a:ext>
            </a:extLst>
          </p:cNvPr>
          <p:cNvSpPr txBox="1"/>
          <p:nvPr/>
        </p:nvSpPr>
        <p:spPr>
          <a:xfrm>
            <a:off x="777240" y="2743200"/>
            <a:ext cx="106344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ru-RU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Спасибо за внимание!</a:t>
            </a:r>
            <a:endParaRPr lang="en-US" sz="5400" dirty="0"/>
          </a:p>
        </p:txBody>
      </p:sp>
      <p:sp>
        <p:nvSpPr>
          <p:cNvPr id="22" name="Shape 3">
            <a:extLst>
              <a:ext uri="{FF2B5EF4-FFF2-40B4-BE49-F238E27FC236}">
                <a16:creationId xmlns:a16="http://schemas.microsoft.com/office/drawing/2014/main" id="{25763A37-AC98-B838-4A70-4E1DB5C53AB5}"/>
              </a:ext>
            </a:extLst>
          </p:cNvPr>
          <p:cNvSpPr/>
          <p:nvPr/>
        </p:nvSpPr>
        <p:spPr>
          <a:xfrm>
            <a:off x="2834640" y="2606040"/>
            <a:ext cx="2600730" cy="45719"/>
          </a:xfrm>
          <a:prstGeom prst="rect">
            <a:avLst/>
          </a:prstGeom>
          <a:solidFill>
            <a:srgbClr val="D2691E"/>
          </a:solidFill>
          <a:ln/>
        </p:spPr>
      </p:sp>
      <p:sp>
        <p:nvSpPr>
          <p:cNvPr id="23" name="Shape 3">
            <a:extLst>
              <a:ext uri="{FF2B5EF4-FFF2-40B4-BE49-F238E27FC236}">
                <a16:creationId xmlns:a16="http://schemas.microsoft.com/office/drawing/2014/main" id="{4BDC4625-F607-08A6-FF97-689141CE56D5}"/>
              </a:ext>
            </a:extLst>
          </p:cNvPr>
          <p:cNvSpPr/>
          <p:nvPr/>
        </p:nvSpPr>
        <p:spPr>
          <a:xfrm>
            <a:off x="7818120" y="3611880"/>
            <a:ext cx="2600730" cy="45719"/>
          </a:xfrm>
          <a:prstGeom prst="rect">
            <a:avLst/>
          </a:prstGeom>
          <a:solidFill>
            <a:srgbClr val="D2691E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9107</Words>
  <Application>Microsoft Macintosh PowerPoint</Application>
  <PresentationFormat>Широкоэкранный</PresentationFormat>
  <Paragraphs>1320</Paragraphs>
  <Slides>38</Slides>
  <Notes>30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38</vt:i4>
      </vt:variant>
    </vt:vector>
  </HeadingPairs>
  <TitlesOfParts>
    <vt:vector size="42" baseType="lpstr">
      <vt:lpstr>Arial</vt:lpstr>
      <vt:lpstr>Calibri</vt:lpstr>
      <vt:lpstr>Cambria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Моделирование процессов верхнего уровня — СтройМатериалы-Холдинг</dc:title>
  <dc:subject>PptxGenJS Presentation</dc:subject>
  <dc:creator>Денисенко Д., Коптюбенко Т., Богданов Б., Лапин Ю., Трюхан Б.</dc:creator>
  <cp:lastModifiedBy>Борис Трюхан</cp:lastModifiedBy>
  <cp:revision>11</cp:revision>
  <dcterms:created xsi:type="dcterms:W3CDTF">2026-09-13T20:11:15Z</dcterms:created>
  <dcterms:modified xsi:type="dcterms:W3CDTF">2026-09-29T12:03:55Z</dcterms:modified>
</cp:coreProperties>
</file>